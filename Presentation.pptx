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9" r:id="rId3"/>
    <p:sldId id="260" r:id="rId4"/>
    <p:sldId id="276" r:id="rId5"/>
    <p:sldId id="261" r:id="rId6"/>
    <p:sldId id="265" r:id="rId7"/>
    <p:sldId id="266" r:id="rId8"/>
    <p:sldId id="267" r:id="rId9"/>
    <p:sldId id="269" r:id="rId10"/>
    <p:sldId id="262" r:id="rId11"/>
    <p:sldId id="263" r:id="rId12"/>
    <p:sldId id="270" r:id="rId13"/>
    <p:sldId id="264" r:id="rId14"/>
    <p:sldId id="271" r:id="rId15"/>
    <p:sldId id="273" r:id="rId16"/>
    <p:sldId id="274" r:id="rId17"/>
    <p:sldId id="277" r:id="rId18"/>
    <p:sldId id="275" r:id="rId1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Microsoft Office User" initials="Office [3] [3] [2]" lastIdx="1" clrIdx="6"/>
  <p:cmAuthor id="1" name="Microsoft Office User" initials="Office [3]" lastIdx="1" clrIdx="0"/>
  <p:cmAuthor id="8" name="Microsoft Office User" initials="Office [3] [3] [2] [2]" lastIdx="1" clrIdx="7"/>
  <p:cmAuthor id="2" name="Microsoft Office User" initials="Office [3] [2]" lastIdx="1" clrIdx="1"/>
  <p:cmAuthor id="9" name="Microsoft Office User" initials="Office [3] [3] [2] [2] [2]" lastIdx="1" clrIdx="8"/>
  <p:cmAuthor id="3" name="Microsoft Office User" initials="Office [3] [2] [2]" lastIdx="1" clrIdx="2"/>
  <p:cmAuthor id="10" name="Microsoft Office User" initials="Office [3] [3] [2] [2] [2] [2]" lastIdx="1" clrIdx="9"/>
  <p:cmAuthor id="4" name="Microsoft Office User" initials="Office [3] [2] [2] [2]" lastIdx="1" clrIdx="3"/>
  <p:cmAuthor id="11" name="Microsoft Office User" initials="Office [3] [3] [2] [2] [2] [2] [2]" lastIdx="1" clrIdx="10"/>
  <p:cmAuthor id="5" name="Microsoft Office User" initials="Office [3] [2] [2] [2] [2]" lastIdx="1" clrIdx="4"/>
  <p:cmAuthor id="6" name="Microsoft Office User" initials="Office [3] [3]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C59"/>
    <a:srgbClr val="CA1F27"/>
    <a:srgbClr val="EDAB20"/>
    <a:srgbClr val="198599"/>
    <a:srgbClr val="009E48"/>
    <a:srgbClr val="C92127"/>
    <a:srgbClr val="1A8598"/>
    <a:srgbClr val="029D49"/>
    <a:srgbClr val="EDAB21"/>
    <a:srgbClr val="007F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14"/>
    <p:restoredTop sz="86687"/>
  </p:normalViewPr>
  <p:slideViewPr>
    <p:cSldViewPr snapToGrid="0" snapToObjects="1">
      <p:cViewPr>
        <p:scale>
          <a:sx n="100" d="100"/>
          <a:sy n="100" d="100"/>
        </p:scale>
        <p:origin x="1350" y="-72"/>
      </p:cViewPr>
      <p:guideLst/>
    </p:cSldViewPr>
  </p:slideViewPr>
  <p:notesTextViewPr>
    <p:cViewPr>
      <p:scale>
        <a:sx n="55" d="100"/>
        <a:sy n="5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0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1208F8-C77B-D74F-B744-251287BDCA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BC6985-D59B-ED4C-A70C-2CC55C24F99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3E7B4C-DAAA-FF42-ACC3-9082998C8051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1E5110-3723-1A4C-BFBF-177D32FB583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4C7CFF-5960-0D4B-B26E-EF7C0C1C7DF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680314-2679-CC4D-9663-C842C457A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9434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8709531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Open Sans Regular"/>
      </a:defRPr>
    </a:lvl1pPr>
    <a:lvl2pPr indent="228600" latinLnBrk="0">
      <a:defRPr sz="1200">
        <a:latin typeface="+mj-lt"/>
        <a:ea typeface="+mj-ea"/>
        <a:cs typeface="+mj-cs"/>
        <a:sym typeface="Open Sans Regular"/>
      </a:defRPr>
    </a:lvl2pPr>
    <a:lvl3pPr indent="457200" latinLnBrk="0">
      <a:defRPr sz="1200">
        <a:latin typeface="+mj-lt"/>
        <a:ea typeface="+mj-ea"/>
        <a:cs typeface="+mj-cs"/>
        <a:sym typeface="Open Sans Regular"/>
      </a:defRPr>
    </a:lvl3pPr>
    <a:lvl4pPr indent="685800" latinLnBrk="0">
      <a:defRPr sz="1200">
        <a:latin typeface="+mj-lt"/>
        <a:ea typeface="+mj-ea"/>
        <a:cs typeface="+mj-cs"/>
        <a:sym typeface="Open Sans Regular"/>
      </a:defRPr>
    </a:lvl4pPr>
    <a:lvl5pPr indent="914400" latinLnBrk="0">
      <a:defRPr sz="1200">
        <a:latin typeface="+mj-lt"/>
        <a:ea typeface="+mj-ea"/>
        <a:cs typeface="+mj-cs"/>
        <a:sym typeface="Open Sans Regular"/>
      </a:defRPr>
    </a:lvl5pPr>
    <a:lvl6pPr indent="1143000" latinLnBrk="0">
      <a:defRPr sz="1200">
        <a:latin typeface="+mj-lt"/>
        <a:ea typeface="+mj-ea"/>
        <a:cs typeface="+mj-cs"/>
        <a:sym typeface="Open Sans Regular"/>
      </a:defRPr>
    </a:lvl6pPr>
    <a:lvl7pPr indent="1371600" latinLnBrk="0">
      <a:defRPr sz="1200">
        <a:latin typeface="+mj-lt"/>
        <a:ea typeface="+mj-ea"/>
        <a:cs typeface="+mj-cs"/>
        <a:sym typeface="Open Sans Regular"/>
      </a:defRPr>
    </a:lvl7pPr>
    <a:lvl8pPr indent="1600200" latinLnBrk="0">
      <a:defRPr sz="1200">
        <a:latin typeface="+mj-lt"/>
        <a:ea typeface="+mj-ea"/>
        <a:cs typeface="+mj-cs"/>
        <a:sym typeface="Open Sans Regular"/>
      </a:defRPr>
    </a:lvl8pPr>
    <a:lvl9pPr indent="1828800" latinLnBrk="0">
      <a:defRPr sz="1200">
        <a:latin typeface="+mj-lt"/>
        <a:ea typeface="+mj-ea"/>
        <a:cs typeface="+mj-cs"/>
        <a:sym typeface="Open Sans Regular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chart" Target="../charts/chart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FE074F5-EFB6-984F-B0E2-65724356BCE8}"/>
              </a:ext>
            </a:extLst>
          </p:cNvPr>
          <p:cNvSpPr/>
          <p:nvPr userDrawn="1"/>
        </p:nvSpPr>
        <p:spPr>
          <a:xfrm>
            <a:off x="4972833" y="0"/>
            <a:ext cx="721916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25D90BB-CDFB-F24F-B002-2F90E78260A5}"/>
              </a:ext>
            </a:extLst>
          </p:cNvPr>
          <p:cNvCxnSpPr>
            <a:cxnSpLocks/>
          </p:cNvCxnSpPr>
          <p:nvPr userDrawn="1"/>
        </p:nvCxnSpPr>
        <p:spPr>
          <a:xfrm>
            <a:off x="5776231" y="3745282"/>
            <a:ext cx="5687223" cy="0"/>
          </a:xfrm>
          <a:prstGeom prst="line">
            <a:avLst/>
          </a:prstGeom>
          <a:noFill/>
          <a:ln w="12700" cap="flat">
            <a:solidFill>
              <a:schemeClr val="bg1">
                <a:lumMod val="6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732463" y="2284413"/>
            <a:ext cx="5730875" cy="1200150"/>
          </a:xfrm>
        </p:spPr>
        <p:txBody>
          <a:bodyPr anchor="ctr">
            <a:normAutofit/>
          </a:bodyPr>
          <a:lstStyle>
            <a:lvl1pPr marL="0" indent="0">
              <a:buNone/>
              <a:defRPr sz="3600" baseline="0">
                <a:solidFill>
                  <a:schemeClr val="accent3">
                    <a:lumMod val="50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Click to add Presentation Headline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5788025" y="4026802"/>
            <a:ext cx="3270250" cy="338137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MONTH XX, 2018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32ECAD-7B1F-1842-95AA-B00E33C3E0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04543" y="2556221"/>
            <a:ext cx="2078103" cy="1319671"/>
          </a:xfrm>
          <a:prstGeom prst="rect">
            <a:avLst/>
          </a:prstGeom>
        </p:spPr>
      </p:pic>
      <p:sp>
        <p:nvSpPr>
          <p:cNvPr id="10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5781891" y="4449077"/>
            <a:ext cx="5926137" cy="6461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Presenter’s Name</a:t>
            </a:r>
          </a:p>
          <a:p>
            <a:pPr lvl="0"/>
            <a:r>
              <a:rPr lang="en-US" dirty="0"/>
              <a:t>Presenter’s Title</a:t>
            </a:r>
          </a:p>
        </p:txBody>
      </p:sp>
    </p:spTree>
    <p:extLst>
      <p:ext uri="{BB962C8B-B14F-4D97-AF65-F5344CB8AC3E}">
        <p14:creationId xmlns:p14="http://schemas.microsoft.com/office/powerpoint/2010/main" val="3114746159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FE074F5-EFB6-984F-B0E2-65724356BCE8}"/>
              </a:ext>
            </a:extLst>
          </p:cNvPr>
          <p:cNvSpPr/>
          <p:nvPr userDrawn="1"/>
        </p:nvSpPr>
        <p:spPr>
          <a:xfrm>
            <a:off x="588723" y="588724"/>
            <a:ext cx="11014553" cy="568055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25D90BB-CDFB-F24F-B002-2F90E78260A5}"/>
              </a:ext>
            </a:extLst>
          </p:cNvPr>
          <p:cNvCxnSpPr>
            <a:cxnSpLocks/>
          </p:cNvCxnSpPr>
          <p:nvPr userDrawn="1"/>
        </p:nvCxnSpPr>
        <p:spPr>
          <a:xfrm>
            <a:off x="1757819" y="2035793"/>
            <a:ext cx="8538576" cy="0"/>
          </a:xfrm>
          <a:prstGeom prst="line">
            <a:avLst/>
          </a:prstGeom>
          <a:noFill/>
          <a:ln w="12700" cap="flat">
            <a:solidFill>
              <a:schemeClr val="bg1">
                <a:lumMod val="6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720850" y="2438400"/>
            <a:ext cx="8575545" cy="2803525"/>
          </a:xfrm>
        </p:spPr>
        <p:txBody>
          <a:bodyPr anchor="t"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400" baseline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914400" indent="-457200">
              <a:lnSpc>
                <a:spcPct val="150000"/>
              </a:lnSpc>
              <a:buFont typeface="+mj-lt"/>
              <a:buAutoNum type="arabicPeriod"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371600" indent="-457200">
              <a:lnSpc>
                <a:spcPct val="150000"/>
              </a:lnSpc>
              <a:buFont typeface="+mj-lt"/>
              <a:buAutoNum type="arabicPeriod"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828800" indent="-457200">
              <a:lnSpc>
                <a:spcPct val="150000"/>
              </a:lnSpc>
              <a:buFont typeface="+mj-lt"/>
              <a:buAutoNum type="arabicPeriod"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286000" indent="-457200">
              <a:lnSpc>
                <a:spcPct val="150000"/>
              </a:lnSpc>
              <a:buFont typeface="+mj-lt"/>
              <a:buAutoNum type="arabicPeriod"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add numbered list</a:t>
            </a:r>
          </a:p>
          <a:p>
            <a:pPr lvl="0"/>
            <a:r>
              <a:rPr lang="en-US" dirty="0"/>
              <a:t> </a:t>
            </a:r>
          </a:p>
          <a:p>
            <a:pPr lvl="0"/>
            <a:r>
              <a:rPr lang="en-US" dirty="0"/>
              <a:t> </a:t>
            </a:r>
          </a:p>
          <a:p>
            <a:pPr lvl="0"/>
            <a:r>
              <a:rPr lang="en-US" dirty="0"/>
              <a:t> </a:t>
            </a:r>
          </a:p>
          <a:p>
            <a:pPr lvl="0"/>
            <a:r>
              <a:rPr lang="en-US" dirty="0"/>
              <a:t> </a:t>
            </a:r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D963866A-1167-6843-8C6A-0581D75658FE}"/>
              </a:ext>
            </a:extLst>
          </p:cNvPr>
          <p:cNvSpPr txBox="1"/>
          <p:nvPr userDrawn="1"/>
        </p:nvSpPr>
        <p:spPr>
          <a:xfrm>
            <a:off x="1820450" y="1220947"/>
            <a:ext cx="5883057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4400" spc="3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</a:lstStyle>
          <a:p>
            <a:r>
              <a:rPr lang="en-US" sz="3600" spc="0" dirty="0">
                <a:solidFill>
                  <a:schemeClr val="accent3">
                    <a:lumMod val="50000"/>
                  </a:schemeClr>
                </a:solidFill>
              </a:rPr>
              <a:t>Agenda</a:t>
            </a:r>
            <a:endParaRPr sz="3600" spc="0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289215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24CD7A-725F-9944-93F4-585EA7580F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84784" y="6375748"/>
            <a:ext cx="2877363" cy="252955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154363" y="3044825"/>
            <a:ext cx="5883275" cy="76835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400" baseline="0">
                <a:solidFill>
                  <a:schemeClr val="bg1"/>
                </a:solidFill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 dirty="0"/>
              <a:t>New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649642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FE074F5-EFB6-984F-B0E2-65724356BCE8}"/>
              </a:ext>
            </a:extLst>
          </p:cNvPr>
          <p:cNvSpPr/>
          <p:nvPr userDrawn="1"/>
        </p:nvSpPr>
        <p:spPr>
          <a:xfrm>
            <a:off x="1152395" y="0"/>
            <a:ext cx="11039605" cy="6858000"/>
          </a:xfrm>
          <a:prstGeom prst="rect">
            <a:avLst/>
          </a:pr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25D90BB-CDFB-F24F-B002-2F90E78260A5}"/>
              </a:ext>
            </a:extLst>
          </p:cNvPr>
          <p:cNvCxnSpPr>
            <a:cxnSpLocks/>
          </p:cNvCxnSpPr>
          <p:nvPr userDrawn="1"/>
        </p:nvCxnSpPr>
        <p:spPr>
          <a:xfrm>
            <a:off x="2384121" y="2001772"/>
            <a:ext cx="9177402" cy="0"/>
          </a:xfrm>
          <a:prstGeom prst="line">
            <a:avLst/>
          </a:prstGeom>
          <a:noFill/>
          <a:ln w="12700" cap="flat">
            <a:solidFill>
              <a:schemeClr val="bg1">
                <a:lumMod val="6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464318D0-91C0-A945-85E3-9719A49296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84784" y="6375748"/>
            <a:ext cx="2877363" cy="252955"/>
          </a:xfrm>
          <a:prstGeom prst="rect">
            <a:avLst/>
          </a:prstGeom>
        </p:spPr>
      </p:pic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2384425" y="1157288"/>
            <a:ext cx="5883275" cy="646112"/>
          </a:xfrm>
        </p:spPr>
        <p:txBody>
          <a:bodyPr anchor="ctr">
            <a:normAutofit/>
          </a:bodyPr>
          <a:lstStyle>
            <a:lvl1pPr marL="0" indent="0">
              <a:buNone/>
              <a:defRPr sz="3600" baseline="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Slide Headline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2346325" y="3081338"/>
            <a:ext cx="6746875" cy="163195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None/>
              <a:defRPr baseline="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 hasCustomPrompt="1"/>
          </p:nvPr>
        </p:nvSpPr>
        <p:spPr>
          <a:xfrm>
            <a:off x="2346325" y="2535238"/>
            <a:ext cx="6638925" cy="400050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None/>
              <a:defRPr b="1" baseline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4"/>
          </p:nvPr>
        </p:nvSpPr>
        <p:spPr>
          <a:xfrm>
            <a:off x="2346325" y="6318042"/>
            <a:ext cx="350415" cy="338554"/>
          </a:xfrm>
        </p:spPr>
        <p:txBody>
          <a:bodyPr/>
          <a:lstStyle>
            <a:lvl1pPr algn="l"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81847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FE074F5-EFB6-984F-B0E2-65724356BCE8}"/>
              </a:ext>
            </a:extLst>
          </p:cNvPr>
          <p:cNvSpPr/>
          <p:nvPr userDrawn="1"/>
        </p:nvSpPr>
        <p:spPr>
          <a:xfrm>
            <a:off x="1152395" y="0"/>
            <a:ext cx="11039605" cy="6858000"/>
          </a:xfrm>
          <a:prstGeom prst="rect">
            <a:avLst/>
          </a:pr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5" hasCustomPrompt="1"/>
          </p:nvPr>
        </p:nvSpPr>
        <p:spPr>
          <a:xfrm>
            <a:off x="2346325" y="2978150"/>
            <a:ext cx="4289425" cy="224631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None/>
              <a:defRPr baseline="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25D90BB-CDFB-F24F-B002-2F90E78260A5}"/>
              </a:ext>
            </a:extLst>
          </p:cNvPr>
          <p:cNvCxnSpPr>
            <a:cxnSpLocks/>
          </p:cNvCxnSpPr>
          <p:nvPr userDrawn="1"/>
        </p:nvCxnSpPr>
        <p:spPr>
          <a:xfrm>
            <a:off x="2384121" y="2001772"/>
            <a:ext cx="9177402" cy="0"/>
          </a:xfrm>
          <a:prstGeom prst="line">
            <a:avLst/>
          </a:prstGeom>
          <a:noFill/>
          <a:ln w="12700" cap="flat">
            <a:solidFill>
              <a:schemeClr val="bg1">
                <a:lumMod val="6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464318D0-91C0-A945-85E3-9719A49296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84784" y="6375748"/>
            <a:ext cx="2877363" cy="252955"/>
          </a:xfrm>
          <a:prstGeom prst="rect">
            <a:avLst/>
          </a:prstGeom>
        </p:spPr>
      </p:pic>
      <p:sp>
        <p:nvSpPr>
          <p:cNvPr id="14" name="Straight Connector 3">
            <a:extLst>
              <a:ext uri="{FF2B5EF4-FFF2-40B4-BE49-F238E27FC236}">
                <a16:creationId xmlns:a16="http://schemas.microsoft.com/office/drawing/2014/main" id="{F9BD3ECE-BE50-D24E-A5FA-EDB22E5FB81C}"/>
              </a:ext>
            </a:extLst>
          </p:cNvPr>
          <p:cNvSpPr/>
          <p:nvPr userDrawn="1"/>
        </p:nvSpPr>
        <p:spPr>
          <a:xfrm flipH="1">
            <a:off x="6861569" y="2624443"/>
            <a:ext cx="36096" cy="2600020"/>
          </a:xfrm>
          <a:prstGeom prst="line">
            <a:avLst/>
          </a:prstGeom>
          <a:ln w="19050">
            <a:solidFill>
              <a:schemeClr val="bg1">
                <a:lumMod val="50000"/>
                <a:alpha val="20000"/>
              </a:schemeClr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2384425" y="1157288"/>
            <a:ext cx="5883275" cy="646112"/>
          </a:xfrm>
        </p:spPr>
        <p:txBody>
          <a:bodyPr anchor="ctr">
            <a:normAutofit/>
          </a:bodyPr>
          <a:lstStyle>
            <a:lvl1pPr marL="0" indent="0">
              <a:buNone/>
              <a:defRPr sz="3600" baseline="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Slide Headline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3" hasCustomPrompt="1"/>
          </p:nvPr>
        </p:nvSpPr>
        <p:spPr>
          <a:xfrm>
            <a:off x="2346324" y="2535238"/>
            <a:ext cx="4288651" cy="400050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None/>
              <a:defRPr b="1" baseline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add Subhead Text</a:t>
            </a:r>
          </a:p>
        </p:txBody>
      </p:sp>
      <p:sp>
        <p:nvSpPr>
          <p:cNvPr id="20" name="Text Placeholder 18"/>
          <p:cNvSpPr>
            <a:spLocks noGrp="1"/>
          </p:cNvSpPr>
          <p:nvPr>
            <p:ph type="body" sz="quarter" idx="14" hasCustomPrompt="1"/>
          </p:nvPr>
        </p:nvSpPr>
        <p:spPr>
          <a:xfrm>
            <a:off x="7269053" y="2535238"/>
            <a:ext cx="4288651" cy="400050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None/>
              <a:defRPr b="1" baseline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add Subhead Text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7272098" y="2974975"/>
            <a:ext cx="4289425" cy="224631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None/>
              <a:defRPr baseline="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7"/>
          </p:nvPr>
        </p:nvSpPr>
        <p:spPr>
          <a:xfrm>
            <a:off x="2347165" y="6318250"/>
            <a:ext cx="350415" cy="338554"/>
          </a:xfrm>
        </p:spPr>
        <p:txBody>
          <a:bodyPr/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313292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FE074F5-EFB6-984F-B0E2-65724356BCE8}"/>
              </a:ext>
            </a:extLst>
          </p:cNvPr>
          <p:cNvSpPr/>
          <p:nvPr userDrawn="1"/>
        </p:nvSpPr>
        <p:spPr>
          <a:xfrm>
            <a:off x="1152395" y="0"/>
            <a:ext cx="11039605" cy="6858000"/>
          </a:xfrm>
          <a:prstGeom prst="rect">
            <a:avLst/>
          </a:pr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25D90BB-CDFB-F24F-B002-2F90E78260A5}"/>
              </a:ext>
            </a:extLst>
          </p:cNvPr>
          <p:cNvCxnSpPr>
            <a:cxnSpLocks/>
          </p:cNvCxnSpPr>
          <p:nvPr userDrawn="1"/>
        </p:nvCxnSpPr>
        <p:spPr>
          <a:xfrm>
            <a:off x="2384121" y="2001772"/>
            <a:ext cx="9177402" cy="0"/>
          </a:xfrm>
          <a:prstGeom prst="line">
            <a:avLst/>
          </a:prstGeom>
          <a:noFill/>
          <a:ln w="12700" cap="flat">
            <a:solidFill>
              <a:schemeClr val="bg1">
                <a:lumMod val="6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464318D0-91C0-A945-85E3-9719A49296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84784" y="6375748"/>
            <a:ext cx="2877363" cy="25295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0D357D6-40C8-AD46-A89D-9806E43D62FA}"/>
              </a:ext>
            </a:extLst>
          </p:cNvPr>
          <p:cNvSpPr/>
          <p:nvPr/>
        </p:nvSpPr>
        <p:spPr>
          <a:xfrm>
            <a:off x="2346544" y="2596953"/>
            <a:ext cx="39305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dirty="0">
                <a:solidFill>
                  <a:schemeClr val="bg1">
                    <a:lumMod val="65000"/>
                  </a:schemeClr>
                </a:solidFill>
                <a:latin typeface="Crimson Text" panose="02000503000000000000" pitchFamily="2" charset="77"/>
                <a:ea typeface="Open Sans Light" panose="020B0306030504020204" pitchFamily="34" charset="0"/>
                <a:cs typeface="Open Sans Light" panose="020B0306030504020204" pitchFamily="34" charset="0"/>
              </a:rPr>
              <a:t>“</a:t>
            </a:r>
            <a:endParaRPr lang="en-US" sz="5400" dirty="0">
              <a:solidFill>
                <a:schemeClr val="bg1">
                  <a:lumMod val="65000"/>
                </a:schemeClr>
              </a:solidFill>
              <a:latin typeface="Crimson Text" panose="02000503000000000000" pitchFamily="2" charset="77"/>
            </a:endParaRPr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0" hasCustomPrompt="1"/>
          </p:nvPr>
        </p:nvSpPr>
        <p:spPr>
          <a:xfrm rot="429021">
            <a:off x="8715166" y="1582670"/>
            <a:ext cx="2665962" cy="4175125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Optional picture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2" hasCustomPrompt="1"/>
          </p:nvPr>
        </p:nvSpPr>
        <p:spPr>
          <a:xfrm>
            <a:off x="2676100" y="5367415"/>
            <a:ext cx="4413250" cy="369887"/>
          </a:xfrm>
        </p:spPr>
        <p:txBody>
          <a:bodyPr anchor="ctr">
            <a:normAutofit/>
          </a:bodyPr>
          <a:lstStyle>
            <a:lvl1pPr marL="0" indent="0">
              <a:buNone/>
              <a:defRPr sz="1800" cap="all" spc="600" baseline="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Author’s Name</a:t>
            </a:r>
          </a:p>
        </p:txBody>
      </p:sp>
      <p:sp>
        <p:nvSpPr>
          <p:cNvPr id="21" name="Text Placeholder 20"/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2676525" y="2779713"/>
            <a:ext cx="5286375" cy="2216150"/>
          </a:xfrm>
        </p:spPr>
        <p:txBody>
          <a:bodyPr>
            <a:noAutofit/>
          </a:bodyPr>
          <a:lstStyle>
            <a:lvl1pPr marL="0" indent="0">
              <a:buNone/>
              <a:defRPr sz="2400" baseline="0">
                <a:solidFill>
                  <a:schemeClr val="accent3">
                    <a:lumMod val="50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quote text</a:t>
            </a:r>
          </a:p>
        </p:txBody>
      </p:sp>
      <p:sp>
        <p:nvSpPr>
          <p:cNvPr id="26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2384425" y="1157288"/>
            <a:ext cx="5883275" cy="646112"/>
          </a:xfrm>
        </p:spPr>
        <p:txBody>
          <a:bodyPr anchor="ctr">
            <a:normAutofit/>
          </a:bodyPr>
          <a:lstStyle>
            <a:lvl1pPr marL="0" indent="0">
              <a:buNone/>
              <a:defRPr sz="3600" baseline="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Slide Headline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>
          <a:xfrm>
            <a:off x="2325685" y="6332948"/>
            <a:ext cx="350415" cy="338554"/>
          </a:xfrm>
        </p:spPr>
        <p:txBody>
          <a:bodyPr/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352535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FE074F5-EFB6-984F-B0E2-65724356BCE8}"/>
              </a:ext>
            </a:extLst>
          </p:cNvPr>
          <p:cNvSpPr/>
          <p:nvPr userDrawn="1"/>
        </p:nvSpPr>
        <p:spPr>
          <a:xfrm>
            <a:off x="1152395" y="0"/>
            <a:ext cx="11039605" cy="6858000"/>
          </a:xfrm>
          <a:prstGeom prst="rect">
            <a:avLst/>
          </a:pr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2335568" y="6328495"/>
            <a:ext cx="350415" cy="338554"/>
          </a:xfrm>
        </p:spPr>
        <p:txBody>
          <a:bodyPr/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25D90BB-CDFB-F24F-B002-2F90E78260A5}"/>
              </a:ext>
            </a:extLst>
          </p:cNvPr>
          <p:cNvCxnSpPr>
            <a:cxnSpLocks/>
          </p:cNvCxnSpPr>
          <p:nvPr userDrawn="1"/>
        </p:nvCxnSpPr>
        <p:spPr>
          <a:xfrm>
            <a:off x="2384121" y="2001772"/>
            <a:ext cx="9177402" cy="0"/>
          </a:xfrm>
          <a:prstGeom prst="line">
            <a:avLst/>
          </a:prstGeom>
          <a:noFill/>
          <a:ln w="12700" cap="flat">
            <a:solidFill>
              <a:schemeClr val="bg1">
                <a:lumMod val="6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464318D0-91C0-A945-85E3-9719A49296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84784" y="6375748"/>
            <a:ext cx="2877363" cy="252955"/>
          </a:xfrm>
          <a:prstGeom prst="rect">
            <a:avLst/>
          </a:prstGeom>
        </p:spPr>
      </p:pic>
      <p:sp>
        <p:nvSpPr>
          <p:cNvPr id="13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2384425" y="1157288"/>
            <a:ext cx="5883275" cy="646112"/>
          </a:xfrm>
        </p:spPr>
        <p:txBody>
          <a:bodyPr anchor="ctr">
            <a:normAutofit/>
          </a:bodyPr>
          <a:lstStyle>
            <a:lvl1pPr marL="0" indent="0">
              <a:buNone/>
              <a:defRPr sz="3600" baseline="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Slide Headline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2393950" y="2535238"/>
            <a:ext cx="6816725" cy="3067050"/>
          </a:xfrm>
        </p:spPr>
        <p:txBody>
          <a:bodyPr/>
          <a:lstStyle>
            <a:lvl1pPr marL="347472" indent="-347472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defRPr baseline="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bulleted list.</a:t>
            </a:r>
          </a:p>
          <a:p>
            <a:pPr lvl="0"/>
            <a:r>
              <a:rPr lang="en-US" dirty="0"/>
              <a:t> </a:t>
            </a:r>
          </a:p>
          <a:p>
            <a:pPr lvl="0"/>
            <a:r>
              <a:rPr lang="en-US" dirty="0"/>
              <a:t> 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6" hasCustomPrompt="1"/>
          </p:nvPr>
        </p:nvSpPr>
        <p:spPr>
          <a:xfrm>
            <a:off x="2708275" y="6342063"/>
            <a:ext cx="5768163" cy="276225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i="1" baseline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add source title</a:t>
            </a:r>
          </a:p>
        </p:txBody>
      </p:sp>
    </p:spTree>
    <p:extLst>
      <p:ext uri="{BB962C8B-B14F-4D97-AF65-F5344CB8AC3E}">
        <p14:creationId xmlns:p14="http://schemas.microsoft.com/office/powerpoint/2010/main" val="2305592583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-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AFE074F5-EFB6-984F-B0E2-65724356BCE8}"/>
              </a:ext>
            </a:extLst>
          </p:cNvPr>
          <p:cNvSpPr/>
          <p:nvPr userDrawn="1"/>
        </p:nvSpPr>
        <p:spPr>
          <a:xfrm>
            <a:off x="1152395" y="0"/>
            <a:ext cx="11039605" cy="6858000"/>
          </a:xfrm>
          <a:prstGeom prst="rect">
            <a:avLst/>
          </a:pr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25D90BB-CDFB-F24F-B002-2F90E78260A5}"/>
              </a:ext>
            </a:extLst>
          </p:cNvPr>
          <p:cNvCxnSpPr>
            <a:cxnSpLocks/>
          </p:cNvCxnSpPr>
          <p:nvPr userDrawn="1"/>
        </p:nvCxnSpPr>
        <p:spPr>
          <a:xfrm>
            <a:off x="2384121" y="2001772"/>
            <a:ext cx="9177402" cy="0"/>
          </a:xfrm>
          <a:prstGeom prst="line">
            <a:avLst/>
          </a:prstGeom>
          <a:noFill/>
          <a:ln w="12700" cap="flat">
            <a:solidFill>
              <a:schemeClr val="bg1">
                <a:lumMod val="6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464318D0-91C0-A945-85E3-9719A49296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84784" y="6375748"/>
            <a:ext cx="2877363" cy="252955"/>
          </a:xfrm>
          <a:prstGeom prst="rect">
            <a:avLst/>
          </a:prstGeom>
        </p:spPr>
      </p:pic>
      <p:sp>
        <p:nvSpPr>
          <p:cNvPr id="25" name="Straight Connector 3">
            <a:extLst>
              <a:ext uri="{FF2B5EF4-FFF2-40B4-BE49-F238E27FC236}">
                <a16:creationId xmlns:a16="http://schemas.microsoft.com/office/drawing/2014/main" id="{8BAAEE2E-CF72-D545-BE68-79823B4BCF5B}"/>
              </a:ext>
            </a:extLst>
          </p:cNvPr>
          <p:cNvSpPr/>
          <p:nvPr userDrawn="1"/>
        </p:nvSpPr>
        <p:spPr>
          <a:xfrm>
            <a:off x="2382685" y="3389704"/>
            <a:ext cx="9202993" cy="0"/>
          </a:xfrm>
          <a:prstGeom prst="line">
            <a:avLst/>
          </a:prstGeom>
          <a:ln w="19050">
            <a:solidFill>
              <a:schemeClr val="bg1">
                <a:lumMod val="50000"/>
                <a:alpha val="20000"/>
              </a:schemeClr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6" name="Straight Connector 3">
            <a:extLst>
              <a:ext uri="{FF2B5EF4-FFF2-40B4-BE49-F238E27FC236}">
                <a16:creationId xmlns:a16="http://schemas.microsoft.com/office/drawing/2014/main" id="{D732FC46-5B10-FC46-9D01-3DDF8674D16B}"/>
              </a:ext>
            </a:extLst>
          </p:cNvPr>
          <p:cNvSpPr/>
          <p:nvPr userDrawn="1"/>
        </p:nvSpPr>
        <p:spPr>
          <a:xfrm>
            <a:off x="2382685" y="4675735"/>
            <a:ext cx="9202993" cy="0"/>
          </a:xfrm>
          <a:prstGeom prst="line">
            <a:avLst/>
          </a:prstGeom>
          <a:ln w="19050">
            <a:solidFill>
              <a:schemeClr val="bg1">
                <a:lumMod val="50000"/>
                <a:alpha val="20000"/>
              </a:schemeClr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" name="Straight Connector 3">
            <a:extLst>
              <a:ext uri="{FF2B5EF4-FFF2-40B4-BE49-F238E27FC236}">
                <a16:creationId xmlns:a16="http://schemas.microsoft.com/office/drawing/2014/main" id="{7AB9B77F-AA9C-5C47-A57B-75F33290901A}"/>
              </a:ext>
            </a:extLst>
          </p:cNvPr>
          <p:cNvSpPr/>
          <p:nvPr userDrawn="1"/>
        </p:nvSpPr>
        <p:spPr>
          <a:xfrm>
            <a:off x="2382685" y="6017521"/>
            <a:ext cx="9202993" cy="0"/>
          </a:xfrm>
          <a:prstGeom prst="line">
            <a:avLst/>
          </a:prstGeom>
          <a:ln w="19050">
            <a:solidFill>
              <a:schemeClr val="bg1">
                <a:lumMod val="50000"/>
                <a:alpha val="20000"/>
              </a:schemeClr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2384425" y="1157288"/>
            <a:ext cx="5883275" cy="646112"/>
          </a:xfrm>
        </p:spPr>
        <p:txBody>
          <a:bodyPr anchor="ctr">
            <a:normAutofit/>
          </a:bodyPr>
          <a:lstStyle>
            <a:lvl1pPr marL="0" indent="0">
              <a:buNone/>
              <a:defRPr sz="3600" baseline="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Slide Headline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5" hasCustomPrompt="1"/>
          </p:nvPr>
        </p:nvSpPr>
        <p:spPr>
          <a:xfrm>
            <a:off x="2457450" y="2378670"/>
            <a:ext cx="1503363" cy="923330"/>
          </a:xfrm>
        </p:spPr>
        <p:txBody>
          <a:bodyPr anchor="b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5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5" name="Text Placeholder 44"/>
          <p:cNvSpPr>
            <a:spLocks noGrp="1"/>
          </p:cNvSpPr>
          <p:nvPr>
            <p:ph type="body" sz="quarter" idx="18" hasCustomPrompt="1"/>
          </p:nvPr>
        </p:nvSpPr>
        <p:spPr>
          <a:xfrm>
            <a:off x="4302125" y="2448025"/>
            <a:ext cx="6832600" cy="55403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text.</a:t>
            </a:r>
          </a:p>
        </p:txBody>
      </p:sp>
      <p:sp>
        <p:nvSpPr>
          <p:cNvPr id="47" name="Text Placeholder 40"/>
          <p:cNvSpPr>
            <a:spLocks noGrp="1"/>
          </p:cNvSpPr>
          <p:nvPr>
            <p:ph type="body" sz="quarter" idx="19" hasCustomPrompt="1"/>
          </p:nvPr>
        </p:nvSpPr>
        <p:spPr>
          <a:xfrm>
            <a:off x="2457450" y="3601170"/>
            <a:ext cx="1503363" cy="923330"/>
          </a:xfrm>
        </p:spPr>
        <p:txBody>
          <a:bodyPr anchor="b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5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8" name="Text Placeholder 44"/>
          <p:cNvSpPr>
            <a:spLocks noGrp="1"/>
          </p:cNvSpPr>
          <p:nvPr>
            <p:ph type="body" sz="quarter" idx="20" hasCustomPrompt="1"/>
          </p:nvPr>
        </p:nvSpPr>
        <p:spPr>
          <a:xfrm>
            <a:off x="4302125" y="3670525"/>
            <a:ext cx="6832600" cy="55403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text.</a:t>
            </a:r>
          </a:p>
        </p:txBody>
      </p:sp>
      <p:sp>
        <p:nvSpPr>
          <p:cNvPr id="49" name="Text Placeholder 40"/>
          <p:cNvSpPr>
            <a:spLocks noGrp="1"/>
          </p:cNvSpPr>
          <p:nvPr>
            <p:ph type="body" sz="quarter" idx="21" hasCustomPrompt="1"/>
          </p:nvPr>
        </p:nvSpPr>
        <p:spPr>
          <a:xfrm>
            <a:off x="2457450" y="4884025"/>
            <a:ext cx="1503363" cy="923330"/>
          </a:xfrm>
        </p:spPr>
        <p:txBody>
          <a:bodyPr anchor="b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5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0" name="Text Placeholder 44"/>
          <p:cNvSpPr>
            <a:spLocks noGrp="1"/>
          </p:cNvSpPr>
          <p:nvPr>
            <p:ph type="body" sz="quarter" idx="22" hasCustomPrompt="1"/>
          </p:nvPr>
        </p:nvSpPr>
        <p:spPr>
          <a:xfrm>
            <a:off x="4302125" y="4953380"/>
            <a:ext cx="6832600" cy="55403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text.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3"/>
          </p:nvPr>
        </p:nvSpPr>
        <p:spPr>
          <a:xfrm>
            <a:off x="2341697" y="6316472"/>
            <a:ext cx="350415" cy="338554"/>
          </a:xfrm>
        </p:spPr>
        <p:txBody>
          <a:bodyPr/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79392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FE074F5-EFB6-984F-B0E2-65724356BCE8}"/>
              </a:ext>
            </a:extLst>
          </p:cNvPr>
          <p:cNvSpPr/>
          <p:nvPr userDrawn="1"/>
        </p:nvSpPr>
        <p:spPr>
          <a:xfrm>
            <a:off x="1152395" y="0"/>
            <a:ext cx="11039605" cy="6858000"/>
          </a:xfrm>
          <a:prstGeom prst="rect">
            <a:avLst/>
          </a:pr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2308225" y="6320927"/>
            <a:ext cx="350415" cy="338554"/>
          </a:xfrm>
        </p:spPr>
        <p:txBody>
          <a:bodyPr/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4318D0-91C0-A945-85E3-9719A49296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84784" y="6375748"/>
            <a:ext cx="2877363" cy="252955"/>
          </a:xfrm>
          <a:prstGeom prst="rect">
            <a:avLst/>
          </a:prstGeom>
        </p:spPr>
      </p:pic>
      <p:sp>
        <p:nvSpPr>
          <p:cNvPr id="31" name="Chart Placeholder 30"/>
          <p:cNvSpPr>
            <a:spLocks noGrp="1"/>
          </p:cNvSpPr>
          <p:nvPr>
            <p:ph type="chart" sz="quarter" idx="15" hasCustomPrompt="1"/>
          </p:nvPr>
        </p:nvSpPr>
        <p:spPr>
          <a:xfrm>
            <a:off x="2308225" y="2682875"/>
            <a:ext cx="7102475" cy="3189288"/>
          </a:xfrm>
        </p:spPr>
        <p:txBody>
          <a:bodyPr/>
          <a:lstStyle>
            <a:lvl1pPr marL="0" indent="0">
              <a:buNone/>
              <a:defRPr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chart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D79A80A-8A13-A645-A104-E2C466642BD5}"/>
              </a:ext>
            </a:extLst>
          </p:cNvPr>
          <p:cNvCxnSpPr>
            <a:cxnSpLocks/>
          </p:cNvCxnSpPr>
          <p:nvPr userDrawn="1"/>
        </p:nvCxnSpPr>
        <p:spPr>
          <a:xfrm>
            <a:off x="2384121" y="1615723"/>
            <a:ext cx="9177402" cy="0"/>
          </a:xfrm>
          <a:prstGeom prst="line">
            <a:avLst/>
          </a:prstGeom>
          <a:noFill/>
          <a:ln w="12700" cap="flat">
            <a:solidFill>
              <a:schemeClr val="bg1">
                <a:lumMod val="6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38BE8CB9-2462-C449-954F-F3E39669055B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717321198"/>
              </p:ext>
            </p:extLst>
          </p:nvPr>
        </p:nvGraphicFramePr>
        <p:xfrm>
          <a:off x="3704639" y="2683253"/>
          <a:ext cx="4782721" cy="3188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9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2384425" y="823913"/>
            <a:ext cx="5883275" cy="646112"/>
          </a:xfrm>
        </p:spPr>
        <p:txBody>
          <a:bodyPr anchor="ctr">
            <a:normAutofit/>
          </a:bodyPr>
          <a:lstStyle>
            <a:lvl1pPr marL="0" indent="0">
              <a:buNone/>
              <a:defRPr sz="3600" baseline="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Slide Headline</a:t>
            </a:r>
          </a:p>
        </p:txBody>
      </p:sp>
      <p:sp>
        <p:nvSpPr>
          <p:cNvPr id="33" name="Text Placeholder 32"/>
          <p:cNvSpPr>
            <a:spLocks noGrp="1"/>
          </p:cNvSpPr>
          <p:nvPr>
            <p:ph type="body" sz="quarter" idx="16" hasCustomPrompt="1"/>
          </p:nvPr>
        </p:nvSpPr>
        <p:spPr>
          <a:xfrm>
            <a:off x="2308225" y="2179638"/>
            <a:ext cx="6676559" cy="3683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add chart title</a:t>
            </a:r>
          </a:p>
        </p:txBody>
      </p:sp>
    </p:spTree>
    <p:extLst>
      <p:ext uri="{BB962C8B-B14F-4D97-AF65-F5344CB8AC3E}">
        <p14:creationId xmlns:p14="http://schemas.microsoft.com/office/powerpoint/2010/main" val="1001640486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6" descr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FE074F5-EFB6-984F-B0E2-65724356BCE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25D90BB-CDFB-F24F-B002-2F90E78260A5}"/>
              </a:ext>
            </a:extLst>
          </p:cNvPr>
          <p:cNvCxnSpPr>
            <a:cxnSpLocks/>
          </p:cNvCxnSpPr>
          <p:nvPr userDrawn="1"/>
        </p:nvCxnSpPr>
        <p:spPr>
          <a:xfrm>
            <a:off x="813071" y="2001772"/>
            <a:ext cx="3295669" cy="0"/>
          </a:xfrm>
          <a:prstGeom prst="line">
            <a:avLst/>
          </a:prstGeom>
          <a:noFill/>
          <a:ln w="12700" cap="flat">
            <a:solidFill>
              <a:schemeClr val="bg1">
                <a:lumMod val="6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64318D0-91C0-A945-85E3-9719A49296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84784" y="6375748"/>
            <a:ext cx="2877363" cy="25295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971A5BF-9215-024D-9B63-EC0E351E6351}"/>
              </a:ext>
            </a:extLst>
          </p:cNvPr>
          <p:cNvSpPr/>
          <p:nvPr userDrawn="1"/>
        </p:nvSpPr>
        <p:spPr>
          <a:xfrm>
            <a:off x="4884234" y="0"/>
            <a:ext cx="7307766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1" hasCustomPrompt="1"/>
          </p:nvPr>
        </p:nvSpPr>
        <p:spPr>
          <a:xfrm>
            <a:off x="4884738" y="0"/>
            <a:ext cx="7307262" cy="68580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2" hasCustomPrompt="1"/>
          </p:nvPr>
        </p:nvSpPr>
        <p:spPr>
          <a:xfrm>
            <a:off x="812800" y="600075"/>
            <a:ext cx="3295940" cy="120015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Slide Title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3" hasCustomPrompt="1"/>
          </p:nvPr>
        </p:nvSpPr>
        <p:spPr>
          <a:xfrm>
            <a:off x="776288" y="2535238"/>
            <a:ext cx="3332452" cy="163195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None/>
              <a:defRPr baseline="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text.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4"/>
          </p:nvPr>
        </p:nvSpPr>
        <p:spPr>
          <a:xfrm>
            <a:off x="812800" y="6332948"/>
            <a:ext cx="350415" cy="338554"/>
          </a:xfrm>
        </p:spPr>
        <p:txBody>
          <a:bodyPr/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008955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25D90BB-CDFB-F24F-B002-2F90E78260A5}"/>
              </a:ext>
            </a:extLst>
          </p:cNvPr>
          <p:cNvCxnSpPr>
            <a:cxnSpLocks/>
          </p:cNvCxnSpPr>
          <p:nvPr userDrawn="1"/>
        </p:nvCxnSpPr>
        <p:spPr>
          <a:xfrm>
            <a:off x="813071" y="2001772"/>
            <a:ext cx="3295669" cy="0"/>
          </a:xfrm>
          <a:prstGeom prst="line">
            <a:avLst/>
          </a:prstGeom>
          <a:noFill/>
          <a:ln w="12700" cap="flat">
            <a:solidFill>
              <a:schemeClr val="bg1">
                <a:lumMod val="6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464318D0-91C0-A945-85E3-9719A49296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84784" y="6375748"/>
            <a:ext cx="2877363" cy="252955"/>
          </a:xfrm>
          <a:prstGeom prst="rect">
            <a:avLst/>
          </a:prstGeom>
        </p:spPr>
      </p:pic>
      <p:sp>
        <p:nvSpPr>
          <p:cNvPr id="19" name="Text Placeholder 23"/>
          <p:cNvSpPr>
            <a:spLocks noGrp="1"/>
          </p:cNvSpPr>
          <p:nvPr>
            <p:ph type="body" sz="quarter" idx="12" hasCustomPrompt="1"/>
          </p:nvPr>
        </p:nvSpPr>
        <p:spPr>
          <a:xfrm>
            <a:off x="812800" y="600075"/>
            <a:ext cx="3295940" cy="120015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Slide Title</a:t>
            </a:r>
          </a:p>
        </p:txBody>
      </p:sp>
      <p:sp>
        <p:nvSpPr>
          <p:cNvPr id="20" name="Text Placeholder 25"/>
          <p:cNvSpPr>
            <a:spLocks noGrp="1"/>
          </p:cNvSpPr>
          <p:nvPr>
            <p:ph type="body" sz="quarter" idx="13" hasCustomPrompt="1"/>
          </p:nvPr>
        </p:nvSpPr>
        <p:spPr>
          <a:xfrm>
            <a:off x="776288" y="2535238"/>
            <a:ext cx="3332452" cy="30368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None/>
              <a:defRPr baseline="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text.</a:t>
            </a:r>
          </a:p>
        </p:txBody>
      </p:sp>
      <p:sp>
        <p:nvSpPr>
          <p:cNvPr id="21" name="Picture Placeholder 21"/>
          <p:cNvSpPr>
            <a:spLocks noGrp="1"/>
          </p:cNvSpPr>
          <p:nvPr>
            <p:ph type="pic" sz="quarter" idx="11" hasCustomPrompt="1"/>
          </p:nvPr>
        </p:nvSpPr>
        <p:spPr>
          <a:xfrm>
            <a:off x="4884738" y="1190625"/>
            <a:ext cx="6977409" cy="5127626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4"/>
          </p:nvPr>
        </p:nvSpPr>
        <p:spPr>
          <a:xfrm>
            <a:off x="810122" y="6332948"/>
            <a:ext cx="350415" cy="338554"/>
          </a:xfrm>
        </p:spPr>
        <p:txBody>
          <a:bodyPr/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33036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Slid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add full-slide photo</a:t>
            </a:r>
          </a:p>
        </p:txBody>
      </p:sp>
    </p:spTree>
    <p:extLst>
      <p:ext uri="{BB962C8B-B14F-4D97-AF65-F5344CB8AC3E}">
        <p14:creationId xmlns:p14="http://schemas.microsoft.com/office/powerpoint/2010/main" val="126517145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6E9874A-7B72-A240-A0AB-4D69B85514CD}"/>
              </a:ext>
            </a:extLst>
          </p:cNvPr>
          <p:cNvSpPr/>
          <p:nvPr userDrawn="1"/>
        </p:nvSpPr>
        <p:spPr>
          <a:xfrm>
            <a:off x="4186479" y="134938"/>
            <a:ext cx="3862775" cy="6595235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D82C34-DC55-7F4A-AC88-1664C3C2A080}"/>
              </a:ext>
            </a:extLst>
          </p:cNvPr>
          <p:cNvSpPr/>
          <p:nvPr userDrawn="1"/>
        </p:nvSpPr>
        <p:spPr>
          <a:xfrm>
            <a:off x="8184191" y="134938"/>
            <a:ext cx="3862775" cy="6595235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C3320E-5AF4-7D45-B925-56F581E20852}"/>
              </a:ext>
            </a:extLst>
          </p:cNvPr>
          <p:cNvSpPr/>
          <p:nvPr userDrawn="1"/>
        </p:nvSpPr>
        <p:spPr>
          <a:xfrm>
            <a:off x="166464" y="134938"/>
            <a:ext cx="3885077" cy="6595235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0" hasCustomPrompt="1"/>
          </p:nvPr>
        </p:nvSpPr>
        <p:spPr>
          <a:xfrm>
            <a:off x="166688" y="134938"/>
            <a:ext cx="3884612" cy="6596062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photo or text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16" name="Content Placeholder 14"/>
          <p:cNvSpPr>
            <a:spLocks noGrp="1"/>
          </p:cNvSpPr>
          <p:nvPr>
            <p:ph sz="quarter" idx="11" hasCustomPrompt="1"/>
          </p:nvPr>
        </p:nvSpPr>
        <p:spPr>
          <a:xfrm>
            <a:off x="4186478" y="134938"/>
            <a:ext cx="3862776" cy="6596062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photo or text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17" name="Content Placeholder 14"/>
          <p:cNvSpPr>
            <a:spLocks noGrp="1"/>
          </p:cNvSpPr>
          <p:nvPr>
            <p:ph sz="quarter" idx="12" hasCustomPrompt="1"/>
          </p:nvPr>
        </p:nvSpPr>
        <p:spPr>
          <a:xfrm>
            <a:off x="8184191" y="134938"/>
            <a:ext cx="3862775" cy="6596062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photo or text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18784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rPr dirty="0"/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73918" y="6400413"/>
            <a:ext cx="279883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Open Sans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p:transition spd="med"/>
  <p:hf hdr="0" ftr="0" dt="0"/>
  <p:txStyles>
    <p:titleStyle>
      <a:lvl1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accent3">
              <a:lumMod val="50000"/>
            </a:schemeClr>
          </a:solidFill>
          <a:uFillTx/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  <a:sym typeface="Calibri Light"/>
        </a:defRPr>
      </a:lvl1pPr>
      <a:lvl2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ln>
            <a:noFill/>
          </a:ln>
          <a:solidFill>
            <a:schemeClr val="accent3">
              <a:lumMod val="50000"/>
            </a:schemeClr>
          </a:solidFill>
          <a:uFillTx/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  <a:sym typeface="Open Sans Regular"/>
        </a:defRPr>
      </a:lvl1pPr>
      <a:lvl2pPr marL="723900" marR="0" indent="-2667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ln>
            <a:noFill/>
          </a:ln>
          <a:solidFill>
            <a:schemeClr val="accent3">
              <a:lumMod val="50000"/>
            </a:schemeClr>
          </a:solidFill>
          <a:uFillTx/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  <a:sym typeface="Open Sans Regular"/>
        </a:defRPr>
      </a:lvl2pPr>
      <a:lvl3pPr marL="1234439" marR="0" indent="-320039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ln>
            <a:noFill/>
          </a:ln>
          <a:solidFill>
            <a:schemeClr val="accent3">
              <a:lumMod val="50000"/>
            </a:schemeClr>
          </a:solidFill>
          <a:uFillTx/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  <a:sym typeface="Open Sans Regular"/>
        </a:defRPr>
      </a:lvl3pPr>
      <a:lvl4pPr marL="1727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ln>
            <a:noFill/>
          </a:ln>
          <a:solidFill>
            <a:schemeClr val="accent3">
              <a:lumMod val="50000"/>
            </a:schemeClr>
          </a:solidFill>
          <a:uFillTx/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  <a:sym typeface="Open Sans Regular"/>
        </a:defRPr>
      </a:lvl4pPr>
      <a:lvl5pPr marL="21844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ln>
            <a:noFill/>
          </a:ln>
          <a:solidFill>
            <a:schemeClr val="accent3">
              <a:lumMod val="50000"/>
            </a:schemeClr>
          </a:solidFill>
          <a:uFillTx/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  <a:sym typeface="Open Sans Regular"/>
        </a:defRPr>
      </a:lvl5pPr>
      <a:lvl6pPr marL="26416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Open Sans Regular"/>
        </a:defRPr>
      </a:lvl6pPr>
      <a:lvl7pPr marL="30988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Open Sans Regular"/>
        </a:defRPr>
      </a:lvl7pPr>
      <a:lvl8pPr marL="35560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Open Sans Regular"/>
        </a:defRPr>
      </a:lvl8pPr>
      <a:lvl9pPr marL="4013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Open Sans Regular"/>
        </a:defRPr>
      </a:lvl9pPr>
    </p:bodyStyle>
    <p:otherStyle>
      <a:lvl1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Regular"/>
        </a:defRPr>
      </a:lvl1pPr>
      <a:lvl2pPr marL="0" marR="0" indent="457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Regular"/>
        </a:defRPr>
      </a:lvl2pPr>
      <a:lvl3pPr marL="0" marR="0" indent="914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Regular"/>
        </a:defRPr>
      </a:lvl3pPr>
      <a:lvl4pPr marL="0" marR="0" indent="1371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Regular"/>
        </a:defRPr>
      </a:lvl4pPr>
      <a:lvl5pPr marL="0" marR="0" indent="18288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Regular"/>
        </a:defRPr>
      </a:lvl5pPr>
      <a:lvl6pPr marL="0" marR="0" indent="22860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Regular"/>
        </a:defRPr>
      </a:lvl6pPr>
      <a:lvl7pPr marL="0" marR="0" indent="2743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Regular"/>
        </a:defRPr>
      </a:lvl7pPr>
      <a:lvl8pPr marL="0" marR="0" indent="3200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Regular"/>
        </a:defRPr>
      </a:lvl8pPr>
      <a:lvl9pPr marL="0" marR="0" indent="3657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FINANCIAL NEWS GENERATION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APRIL 2025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HUGO LATENDRESSE</a:t>
            </a:r>
          </a:p>
        </p:txBody>
      </p:sp>
    </p:spTree>
    <p:extLst>
      <p:ext uri="{BB962C8B-B14F-4D97-AF65-F5344CB8AC3E}">
        <p14:creationId xmlns:p14="http://schemas.microsoft.com/office/powerpoint/2010/main" val="123380552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661D7A-350F-89A9-D8EB-6829932892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0B131A-242A-AE44-E464-F3E36619CA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Problem Statement and FNSPID Dataset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BD7E0C-4347-0E73-D560-C1AFFF2743F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08225" y="1901826"/>
            <a:ext cx="6676559" cy="646112"/>
          </a:xfrm>
        </p:spPr>
        <p:txBody>
          <a:bodyPr>
            <a:normAutofit/>
          </a:bodyPr>
          <a:lstStyle/>
          <a:p>
            <a:r>
              <a:rPr lang="en-US" dirty="0"/>
              <a:t>Can we train a language model to write text similar to a financial news article?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80AE06-5213-C4D8-1AE8-831C76F73F65}"/>
              </a:ext>
            </a:extLst>
          </p:cNvPr>
          <p:cNvSpPr txBox="1"/>
          <p:nvPr/>
        </p:nvSpPr>
        <p:spPr>
          <a:xfrm>
            <a:off x="2278062" y="2652413"/>
            <a:ext cx="7132638" cy="3139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i="1" dirty="0"/>
              <a:t>“The following are the top-rated Industrial stocks according to </a:t>
            </a:r>
            <a:r>
              <a:rPr lang="en-US" i="1" dirty="0" err="1"/>
              <a:t>Validea's</a:t>
            </a:r>
            <a:r>
              <a:rPr lang="en-US" i="1" dirty="0"/>
              <a:t> Value Investor model based on the published strategy of Benjamin Graham. This deep value methodology screens for stocks that have low P/B and P/E ratios, along with low debt and solid long-term earnings growth.</a:t>
            </a:r>
          </a:p>
          <a:p>
            <a:r>
              <a:rPr lang="en-US" i="1" dirty="0"/>
              <a:t>NOW INC (DNOW) is a small-cap value stock in the Misc. Capital Goods industry. The rating according to our strategy based on Benjamin Graham is 86% based on the firm’s underlying fundamentals and the stock’s valuation. A score of 80% or above typically indicates that the strategy has some interest in the stock and a score above 90% typically indicates strong interest.”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2344F9-B072-E931-AEE6-6A787E222993}"/>
              </a:ext>
            </a:extLst>
          </p:cNvPr>
          <p:cNvSpPr txBox="1"/>
          <p:nvPr/>
        </p:nvSpPr>
        <p:spPr>
          <a:xfrm>
            <a:off x="2278062" y="5904403"/>
            <a:ext cx="7464289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200" dirty="0"/>
              <a:t>Source: https://www.nasdaq.com/articles/valideas-top-industrial-stocks-based-on-benjamin-graham-12-12-2023</a:t>
            </a:r>
          </a:p>
        </p:txBody>
      </p:sp>
    </p:spTree>
    <p:extLst>
      <p:ext uri="{BB962C8B-B14F-4D97-AF65-F5344CB8AC3E}">
        <p14:creationId xmlns:p14="http://schemas.microsoft.com/office/powerpoint/2010/main" val="93598514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10114-9C08-54ED-6867-45F683BD6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A6DA67-12E9-B097-5D43-ADDCA3F8EC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6EDB1E-E25E-21C1-F925-137E1F8D2C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Data Transformations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A48F970-23FC-4A6B-C1B2-25D3A67140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622014"/>
              </p:ext>
            </p:extLst>
          </p:nvPr>
        </p:nvGraphicFramePr>
        <p:xfrm>
          <a:off x="2464960" y="2646796"/>
          <a:ext cx="2236350" cy="341830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36350">
                  <a:extLst>
                    <a:ext uri="{9D8B030D-6E8A-4147-A177-3AD203B41FA5}">
                      <a16:colId xmlns:a16="http://schemas.microsoft.com/office/drawing/2014/main" val="3172282920"/>
                    </a:ext>
                  </a:extLst>
                </a:gridCol>
              </a:tblGrid>
              <a:tr h="341830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The following are the top-rated Industrial stocks according to </a:t>
                      </a:r>
                      <a:r>
                        <a:rPr lang="en-US" sz="1000" u="none" strike="noStrike" dirty="0" err="1">
                          <a:effectLst/>
                        </a:rPr>
                        <a:t>Validea's</a:t>
                      </a:r>
                      <a:r>
                        <a:rPr lang="en-US" sz="1000" u="none" strike="noStrike" dirty="0">
                          <a:effectLst/>
                        </a:rPr>
                        <a:t> Value Investor model based on the published strategy of Benjamin Graham. This deep value methodology screens for stocks that have low P/B and P/E ratios, along with low debt and solid long-term earnings growth.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NOW INC (DNOW) is a small-cap value stock in the Misc. Capital Goods industry. The rating according to our strategy based on Benjamin Graham is 86% based on the firm’s underlying fundamentals and the stock’s valuation. A score of 80% or above typically indicates that the strategy has some interest in the stock and a score above 90% typically indicates strong interest…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99" marR="1199" marT="1199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1459936"/>
                  </a:ext>
                </a:extLst>
              </a:tr>
            </a:tbl>
          </a:graphicData>
        </a:graphic>
      </p:graphicFrame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CE2EC60-DC8C-B00A-2A3E-CC4BADC0C1BD}"/>
              </a:ext>
            </a:extLst>
          </p:cNvPr>
          <p:cNvSpPr txBox="1">
            <a:spLocks/>
          </p:cNvSpPr>
          <p:nvPr/>
        </p:nvSpPr>
        <p:spPr>
          <a:xfrm>
            <a:off x="2384425" y="2190948"/>
            <a:ext cx="2316885" cy="40005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Open Sans Regular"/>
              </a:defRPr>
            </a:lvl1pPr>
            <a:lvl2pPr marL="723900" marR="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Open Sans Regular"/>
              </a:defRPr>
            </a:lvl2pPr>
            <a:lvl3pPr marL="1234439" marR="0" indent="-320039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Open Sans Regular"/>
              </a:defRPr>
            </a:lvl3pPr>
            <a:lvl4pPr marL="17272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Open Sans Regular"/>
              </a:defRPr>
            </a:lvl4pPr>
            <a:lvl5pPr marL="21844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Open Sans Regular"/>
              </a:defRPr>
            </a:lvl5pPr>
            <a:lvl6pPr marL="26416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Open Sans Regular"/>
              </a:defRPr>
            </a:lvl6pPr>
            <a:lvl7pPr marL="30988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Open Sans Regular"/>
              </a:defRPr>
            </a:lvl7pPr>
            <a:lvl8pPr marL="35560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Open Sans Regular"/>
              </a:defRPr>
            </a:lvl8pPr>
            <a:lvl9pPr marL="40132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Open Sans Regular"/>
              </a:defRPr>
            </a:lvl9pPr>
          </a:lstStyle>
          <a:p>
            <a:pPr marL="0" indent="0">
              <a:buNone/>
            </a:pPr>
            <a:r>
              <a:rPr lang="en-US" b="1" dirty="0"/>
              <a:t>Step 1: Plain Text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EC14CDE-29D3-51E0-583D-24B6FCC409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410546"/>
              </p:ext>
            </p:extLst>
          </p:nvPr>
        </p:nvGraphicFramePr>
        <p:xfrm>
          <a:off x="5813145" y="2642178"/>
          <a:ext cx="2236350" cy="341830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36350">
                  <a:extLst>
                    <a:ext uri="{9D8B030D-6E8A-4147-A177-3AD203B41FA5}">
                      <a16:colId xmlns:a16="http://schemas.microsoft.com/office/drawing/2014/main" val="3172282920"/>
                    </a:ext>
                  </a:extLst>
                </a:gridCol>
              </a:tblGrid>
              <a:tr h="341830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[8795, 27864, 29462, 17283, 19779, 24355, 33502, 42700, 9105, 11329, 11927, 20214, 22418, 30196, 14826, 24734, 38052, 11056, 36419, 17575, 9305, 37264, 27165, 11537, 19064, 5938, 22768, 31709, 43965, 23604, 4462, 10105, 43883, 39867, 44887, 48360, 41085, 40829, 23188, 16883, 28653, 2212, 46913, 2853, 11980, 25955, 34382, 2380, 18177, 9870, 35186, 11069, 18310, 35996, 9881, 40443, 15801, 30244, 2575, 42218, 34941, 21737, 38840, 13073, 32810, 45924, 14022, 24412, 16023, 36380, 38969, 42144, 25278, 1210, 24871, 24967, 28544, 19157, 17735, 27723, 46136, 5536, 21026, 38907, 15253, 15125, 4982, 39924, 16814, 29189, 7554, 25059, 43292, 17505, 19324, 4175, 5288, 28554, 4221, 5311, ...</a:t>
                      </a:r>
                    </a:p>
                  </a:txBody>
                  <a:tcPr marL="1199" marR="1199" marT="1199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1459936"/>
                  </a:ext>
                </a:extLst>
              </a:tr>
            </a:tbl>
          </a:graphicData>
        </a:graphic>
      </p:graphicFrame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4C373CD-EFC7-146E-0DC4-023EC3333B01}"/>
              </a:ext>
            </a:extLst>
          </p:cNvPr>
          <p:cNvSpPr txBox="1">
            <a:spLocks/>
          </p:cNvSpPr>
          <p:nvPr/>
        </p:nvSpPr>
        <p:spPr>
          <a:xfrm>
            <a:off x="5732610" y="2186330"/>
            <a:ext cx="2316885" cy="40005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Open Sans Regular"/>
              </a:defRPr>
            </a:lvl1pPr>
            <a:lvl2pPr marL="723900" marR="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Open Sans Regular"/>
              </a:defRPr>
            </a:lvl2pPr>
            <a:lvl3pPr marL="1234439" marR="0" indent="-320039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Open Sans Regular"/>
              </a:defRPr>
            </a:lvl3pPr>
            <a:lvl4pPr marL="17272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Open Sans Regular"/>
              </a:defRPr>
            </a:lvl4pPr>
            <a:lvl5pPr marL="21844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Open Sans Regular"/>
              </a:defRPr>
            </a:lvl5pPr>
            <a:lvl6pPr marL="26416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Open Sans Regular"/>
              </a:defRPr>
            </a:lvl6pPr>
            <a:lvl7pPr marL="30988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Open Sans Regular"/>
              </a:defRPr>
            </a:lvl7pPr>
            <a:lvl8pPr marL="35560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Open Sans Regular"/>
              </a:defRPr>
            </a:lvl8pPr>
            <a:lvl9pPr marL="40132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Open Sans Regular"/>
              </a:defRPr>
            </a:lvl9pPr>
          </a:lstStyle>
          <a:p>
            <a:pPr marL="0" indent="0">
              <a:buNone/>
            </a:pPr>
            <a:r>
              <a:rPr lang="en-US" b="1" dirty="0"/>
              <a:t>Step 2: Tokens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FDFA45F-8FA1-9703-0A1B-001992738B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130933"/>
              </p:ext>
            </p:extLst>
          </p:nvPr>
        </p:nvGraphicFramePr>
        <p:xfrm>
          <a:off x="9080795" y="2186330"/>
          <a:ext cx="2236350" cy="341830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36350">
                  <a:extLst>
                    <a:ext uri="{9D8B030D-6E8A-4147-A177-3AD203B41FA5}">
                      <a16:colId xmlns:a16="http://schemas.microsoft.com/office/drawing/2014/main" val="3172282920"/>
                    </a:ext>
                  </a:extLst>
                </a:gridCol>
              </a:tblGrid>
              <a:tr h="341830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[[8795, 27864, 29462, 17283],</a:t>
                      </a:r>
                    </a:p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[19779, 24355, 33502, 42700], </a:t>
                      </a:r>
                    </a:p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[37926, 17813, 31317, 44926], </a:t>
                      </a:r>
                    </a:p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[25923, 33615, 25301, 6811], </a:t>
                      </a:r>
                    </a:p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[49909, 8155, 19481, 4313], </a:t>
                      </a:r>
                    </a:p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[33353, 21839, 25469, 10582], </a:t>
                      </a:r>
                    </a:p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[22992, 25365, 17743, 29410], </a:t>
                      </a:r>
                    </a:p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[31775, 7827, 45208, 1841], </a:t>
                      </a:r>
                    </a:p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[47746, 9889, 4254, 33222]]</a:t>
                      </a:r>
                    </a:p>
                  </a:txBody>
                  <a:tcPr marL="1199" marR="1199" marT="1199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1459936"/>
                  </a:ext>
                </a:extLst>
              </a:tr>
            </a:tbl>
          </a:graphicData>
        </a:graphic>
      </p:graphicFrame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0AA6C1B-1329-DA28-C7C3-05625A9B707E}"/>
              </a:ext>
            </a:extLst>
          </p:cNvPr>
          <p:cNvSpPr txBox="1">
            <a:spLocks/>
          </p:cNvSpPr>
          <p:nvPr/>
        </p:nvSpPr>
        <p:spPr>
          <a:xfrm>
            <a:off x="8988430" y="2181716"/>
            <a:ext cx="2316885" cy="40005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Open Sans Regular"/>
              </a:defRPr>
            </a:lvl1pPr>
            <a:lvl2pPr marL="723900" marR="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Open Sans Regular"/>
              </a:defRPr>
            </a:lvl2pPr>
            <a:lvl3pPr marL="1234439" marR="0" indent="-320039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Open Sans Regular"/>
              </a:defRPr>
            </a:lvl3pPr>
            <a:lvl4pPr marL="17272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Open Sans Regular"/>
              </a:defRPr>
            </a:lvl4pPr>
            <a:lvl5pPr marL="21844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Open Sans Regular"/>
              </a:defRPr>
            </a:lvl5pPr>
            <a:lvl6pPr marL="26416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Open Sans Regular"/>
              </a:defRPr>
            </a:lvl6pPr>
            <a:lvl7pPr marL="30988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Open Sans Regular"/>
              </a:defRPr>
            </a:lvl7pPr>
            <a:lvl8pPr marL="35560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Open Sans Regular"/>
              </a:defRPr>
            </a:lvl8pPr>
            <a:lvl9pPr marL="40132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Open Sans Regular"/>
              </a:defRPr>
            </a:lvl9pPr>
          </a:lstStyle>
          <a:p>
            <a:pPr marL="0" indent="0">
              <a:buNone/>
            </a:pPr>
            <a:r>
              <a:rPr lang="en-US" b="1" dirty="0"/>
              <a:t>Step 3: Tensors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91E0E2-EF84-C944-79CA-EC1E972E5714}"/>
              </a:ext>
            </a:extLst>
          </p:cNvPr>
          <p:cNvSpPr txBox="1"/>
          <p:nvPr/>
        </p:nvSpPr>
        <p:spPr>
          <a:xfrm rot="16200000">
            <a:off x="7522404" y="4316569"/>
            <a:ext cx="2687204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accent4"/>
                </a:solidFill>
                <a:effectLst/>
                <a:uFillTx/>
                <a:latin typeface="+mn-lt"/>
                <a:ea typeface="Calibri"/>
                <a:cs typeface="Calibri"/>
                <a:sym typeface="Calibri"/>
              </a:rPr>
              <a:t>Batch size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4E8632-3E04-D27F-80C7-5753BA31FB34}"/>
              </a:ext>
            </a:extLst>
          </p:cNvPr>
          <p:cNvSpPr txBox="1"/>
          <p:nvPr/>
        </p:nvSpPr>
        <p:spPr>
          <a:xfrm>
            <a:off x="8494980" y="2720538"/>
            <a:ext cx="2687204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chemeClr val="accent4"/>
                </a:solidFill>
                <a:effectLst/>
                <a:uFillTx/>
                <a:latin typeface="+mn-lt"/>
                <a:ea typeface="Calibri"/>
                <a:cs typeface="Calibri"/>
                <a:sym typeface="Calibri"/>
              </a:rPr>
              <a:t>Sequence Length  </a:t>
            </a:r>
          </a:p>
        </p:txBody>
      </p:sp>
    </p:spTree>
    <p:extLst>
      <p:ext uri="{BB962C8B-B14F-4D97-AF65-F5344CB8AC3E}">
        <p14:creationId xmlns:p14="http://schemas.microsoft.com/office/powerpoint/2010/main" val="193108754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28454-3F24-768B-8D4F-F45CFD2DB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906754-4573-355F-C89E-43E4FBA9D8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BDF59B-1817-270F-FBE8-24BFF5B322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Model Architecture</a:t>
            </a:r>
          </a:p>
        </p:txBody>
      </p:sp>
      <p:pic>
        <p:nvPicPr>
          <p:cNvPr id="15" name="Picture 14" descr="A diagram of a diagram&#10;&#10;AI-generated content may be incorrect.">
            <a:extLst>
              <a:ext uri="{FF2B5EF4-FFF2-40B4-BE49-F238E27FC236}">
                <a16:creationId xmlns:a16="http://schemas.microsoft.com/office/drawing/2014/main" id="{53036C6F-E683-B63C-A0D5-7C75E166DFF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062" y="1780746"/>
            <a:ext cx="1782395" cy="40071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33BF66-A75A-2B01-833F-5FFDAEB5A279}"/>
              </a:ext>
            </a:extLst>
          </p:cNvPr>
          <p:cNvSpPr txBox="1"/>
          <p:nvPr/>
        </p:nvSpPr>
        <p:spPr>
          <a:xfrm>
            <a:off x="5059362" y="5849396"/>
            <a:ext cx="7464289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defTabSz="914370"/>
            <a:r>
              <a:rPr lang="fr-FR" sz="1200" kern="0" dirty="0"/>
              <a:t>Source: arxiv.org/</a:t>
            </a:r>
            <a:r>
              <a:rPr lang="fr-FR" sz="1200" kern="0" dirty="0" err="1"/>
              <a:t>pdf</a:t>
            </a:r>
            <a:r>
              <a:rPr lang="fr-FR" sz="1200" kern="0" dirty="0"/>
              <a:t>/1706.03762.pdf</a:t>
            </a:r>
            <a:endParaRPr lang="en-GB" sz="1200" kern="0" dirty="0"/>
          </a:p>
        </p:txBody>
      </p:sp>
    </p:spTree>
    <p:extLst>
      <p:ext uri="{BB962C8B-B14F-4D97-AF65-F5344CB8AC3E}">
        <p14:creationId xmlns:p14="http://schemas.microsoft.com/office/powerpoint/2010/main" val="32284973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ECA72-056B-8F34-49F8-D30D2F0FD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87A896-0D39-1AB2-D176-7DD5B84778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094808-28EB-D562-2DE7-3CB851054F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Model Architecture</a:t>
            </a:r>
          </a:p>
        </p:txBody>
      </p:sp>
      <p:pic>
        <p:nvPicPr>
          <p:cNvPr id="15" name="Picture 14" descr="A diagram of a diagram&#10;&#10;AI-generated content may be incorrect.">
            <a:extLst>
              <a:ext uri="{FF2B5EF4-FFF2-40B4-BE49-F238E27FC236}">
                <a16:creationId xmlns:a16="http://schemas.microsoft.com/office/drawing/2014/main" id="{0520400C-B9FC-0CAA-AAC9-9A7F4C506F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31" t="51592" r="20892" b="39316"/>
          <a:stretch/>
        </p:blipFill>
        <p:spPr>
          <a:xfrm>
            <a:off x="5745479" y="3848101"/>
            <a:ext cx="990601" cy="364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16034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56528-8749-8E91-EA92-832204AB6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9428C4-6DD8-D26D-1615-2CE463822B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B88AC4-FE0A-E6B1-5701-3E44D11E8D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Model Architecture</a:t>
            </a:r>
          </a:p>
        </p:txBody>
      </p:sp>
      <p:pic>
        <p:nvPicPr>
          <p:cNvPr id="15" name="Picture 14" descr="A diagram of a diagram&#10;&#10;AI-generated content may be incorrect.">
            <a:extLst>
              <a:ext uri="{FF2B5EF4-FFF2-40B4-BE49-F238E27FC236}">
                <a16:creationId xmlns:a16="http://schemas.microsoft.com/office/drawing/2014/main" id="{7DF3A2B2-63EA-2735-9F27-77E2742A3F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15" t="34097" r="17471" b="57085"/>
          <a:stretch/>
        </p:blipFill>
        <p:spPr>
          <a:xfrm>
            <a:off x="5768339" y="3147061"/>
            <a:ext cx="1028701" cy="353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6971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A5A70-C932-D733-E6AE-C489A1CF9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A6E5E5-BB94-CB1B-C793-CA6E5AE1CE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1690FC-440C-E284-B093-17595E73AA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Model Architecture</a:t>
            </a:r>
          </a:p>
        </p:txBody>
      </p:sp>
      <p:pic>
        <p:nvPicPr>
          <p:cNvPr id="15" name="Picture 14" descr="A diagram of a diagram&#10;&#10;AI-generated content may be incorrect.">
            <a:extLst>
              <a:ext uri="{FF2B5EF4-FFF2-40B4-BE49-F238E27FC236}">
                <a16:creationId xmlns:a16="http://schemas.microsoft.com/office/drawing/2014/main" id="{057C9DC8-75C3-A0BF-5049-12B6EFE1DA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77" t="24909" b="30106"/>
          <a:stretch/>
        </p:blipFill>
        <p:spPr>
          <a:xfrm>
            <a:off x="5619750" y="2778919"/>
            <a:ext cx="1488707" cy="180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42090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C36B9-6B26-17EB-9DD5-CC10A69DD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53C234-4E24-A5C3-95DE-6C7B63B8EF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220170-3F90-D7DE-B690-C1597198F8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Model Architecture</a:t>
            </a:r>
          </a:p>
        </p:txBody>
      </p:sp>
      <p:pic>
        <p:nvPicPr>
          <p:cNvPr id="15" name="Picture 14" descr="A diagram of a diagram&#10;&#10;AI-generated content may be incorrect.">
            <a:extLst>
              <a:ext uri="{FF2B5EF4-FFF2-40B4-BE49-F238E27FC236}">
                <a16:creationId xmlns:a16="http://schemas.microsoft.com/office/drawing/2014/main" id="{586483D2-750C-7FDB-3605-B8673C4CA4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10"/>
          <a:stretch/>
        </p:blipFill>
        <p:spPr>
          <a:xfrm>
            <a:off x="5326062" y="2778919"/>
            <a:ext cx="1782395" cy="300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73692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1C2C9-CE85-C2CC-5548-6D9EF9CD4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6B854A-DF5B-996D-53EC-B13611A3DF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DA448C-4390-B1CE-1654-616370356A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Model Architecture</a:t>
            </a:r>
          </a:p>
        </p:txBody>
      </p:sp>
      <p:pic>
        <p:nvPicPr>
          <p:cNvPr id="15" name="Picture 14" descr="A diagram of a diagram&#10;&#10;AI-generated content may be incorrect.">
            <a:extLst>
              <a:ext uri="{FF2B5EF4-FFF2-40B4-BE49-F238E27FC236}">
                <a16:creationId xmlns:a16="http://schemas.microsoft.com/office/drawing/2014/main" id="{2201203B-854D-2CA0-C807-D1ED0ADC66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062" y="1780746"/>
            <a:ext cx="1782395" cy="40071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788185-B214-C319-9DC1-C0CB59FF4DBC}"/>
              </a:ext>
            </a:extLst>
          </p:cNvPr>
          <p:cNvSpPr txBox="1"/>
          <p:nvPr/>
        </p:nvSpPr>
        <p:spPr>
          <a:xfrm>
            <a:off x="5059362" y="5849396"/>
            <a:ext cx="7464289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defTabSz="914370"/>
            <a:r>
              <a:rPr lang="fr-FR" sz="1200" kern="0" dirty="0"/>
              <a:t>Source: arxiv.org/</a:t>
            </a:r>
            <a:r>
              <a:rPr lang="fr-FR" sz="1200" kern="0" dirty="0" err="1"/>
              <a:t>pdf</a:t>
            </a:r>
            <a:r>
              <a:rPr lang="fr-FR" sz="1200" kern="0" dirty="0"/>
              <a:t>/1706.03762.pdf</a:t>
            </a:r>
            <a:endParaRPr lang="en-GB" sz="1200" kern="0" dirty="0"/>
          </a:p>
        </p:txBody>
      </p:sp>
    </p:spTree>
    <p:extLst>
      <p:ext uri="{BB962C8B-B14F-4D97-AF65-F5344CB8AC3E}">
        <p14:creationId xmlns:p14="http://schemas.microsoft.com/office/powerpoint/2010/main" val="262811042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CB1E8-B5C6-7730-8076-33A9097A6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B8A99E-0BF2-DD54-1D48-0F82AFE2B9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3F3C65-4D97-E4AC-A630-99AE93BD4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Training on GPU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1431D9F-9F1C-9C8F-EB27-1FA2BE8301A8}"/>
              </a:ext>
            </a:extLst>
          </p:cNvPr>
          <p:cNvSpPr txBox="1">
            <a:spLocks/>
          </p:cNvSpPr>
          <p:nvPr/>
        </p:nvSpPr>
        <p:spPr>
          <a:xfrm>
            <a:off x="1868598" y="2090360"/>
            <a:ext cx="4288651" cy="844928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Open Sans Regular"/>
              </a:defRPr>
            </a:lvl1pPr>
            <a:lvl2pPr marL="723900" marR="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Open Sans Regular"/>
              </a:defRPr>
            </a:lvl2pPr>
            <a:lvl3pPr marL="1234439" marR="0" indent="-320039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Open Sans Regular"/>
              </a:defRPr>
            </a:lvl3pPr>
            <a:lvl4pPr marL="17272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Open Sans Regular"/>
              </a:defRPr>
            </a:lvl4pPr>
            <a:lvl5pPr marL="21844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Open Sans Regular"/>
              </a:defRPr>
            </a:lvl5pPr>
            <a:lvl6pPr marL="26416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Open Sans Regular"/>
              </a:defRPr>
            </a:lvl6pPr>
            <a:lvl7pPr marL="30988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Open Sans Regular"/>
              </a:defRPr>
            </a:lvl7pPr>
            <a:lvl8pPr marL="35560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Open Sans Regular"/>
              </a:defRPr>
            </a:lvl8pPr>
            <a:lvl9pPr marL="40132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Open Sans Regular"/>
              </a:defRPr>
            </a:lvl9pPr>
          </a:lstStyle>
          <a:p>
            <a:pPr marL="0" indent="0" algn="ctr">
              <a:buNone/>
            </a:pPr>
            <a:r>
              <a:rPr lang="en-US" sz="2500" b="1" dirty="0"/>
              <a:t>Intel i7 (My Laptop)</a:t>
            </a:r>
          </a:p>
          <a:p>
            <a:pPr marL="0" indent="0" algn="ctr">
              <a:buNone/>
            </a:pPr>
            <a:r>
              <a:rPr lang="en-US" sz="2500" b="1" dirty="0"/>
              <a:t>0.06 TLOPS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711FD29-96AE-EC47-0A28-7EF91CF210DE}"/>
              </a:ext>
            </a:extLst>
          </p:cNvPr>
          <p:cNvSpPr txBox="1">
            <a:spLocks/>
          </p:cNvSpPr>
          <p:nvPr/>
        </p:nvSpPr>
        <p:spPr>
          <a:xfrm>
            <a:off x="6761746" y="2090360"/>
            <a:ext cx="4288651" cy="89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noAutofit/>
          </a:bodyPr>
          <a:lstStyle>
            <a:lvl1pPr marL="0" marR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Open Sans Regular"/>
              </a:defRPr>
            </a:lvl1pPr>
            <a:lvl2pPr marL="723900" marR="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Open Sans Regular"/>
              </a:defRPr>
            </a:lvl2pPr>
            <a:lvl3pPr marL="1234439" marR="0" indent="-320039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Open Sans Regular"/>
              </a:defRPr>
            </a:lvl3pPr>
            <a:lvl4pPr marL="17272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Open Sans Regular"/>
              </a:defRPr>
            </a:lvl4pPr>
            <a:lvl5pPr marL="21844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Open Sans Regular"/>
              </a:defRPr>
            </a:lvl5pPr>
            <a:lvl6pPr marL="26416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Open Sans Regular"/>
              </a:defRPr>
            </a:lvl6pPr>
            <a:lvl7pPr marL="30988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Open Sans Regular"/>
              </a:defRPr>
            </a:lvl7pPr>
            <a:lvl8pPr marL="35560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Open Sans Regular"/>
              </a:defRPr>
            </a:lvl8pPr>
            <a:lvl9pPr marL="40132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Open Sans Regular"/>
              </a:defRPr>
            </a:lvl9pPr>
          </a:lstStyle>
          <a:p>
            <a:pPr algn="ctr"/>
            <a:r>
              <a:rPr lang="en-US" sz="2500" b="1" dirty="0"/>
              <a:t>NVIDIA A100 (Google </a:t>
            </a:r>
            <a:r>
              <a:rPr lang="en-US" sz="2500" b="1" dirty="0" err="1"/>
              <a:t>Colab</a:t>
            </a:r>
            <a:r>
              <a:rPr lang="en-US" sz="2500" b="1" dirty="0"/>
              <a:t>) </a:t>
            </a:r>
          </a:p>
          <a:p>
            <a:pPr algn="ctr"/>
            <a:r>
              <a:rPr lang="en-US" sz="2500" b="1" dirty="0"/>
              <a:t>312 TLOPS</a:t>
            </a:r>
          </a:p>
        </p:txBody>
      </p:sp>
      <p:pic>
        <p:nvPicPr>
          <p:cNvPr id="8" name="Picture 4" descr="NVIDIA A100 | NVIDIA">
            <a:extLst>
              <a:ext uri="{FF2B5EF4-FFF2-40B4-BE49-F238E27FC236}">
                <a16:creationId xmlns:a16="http://schemas.microsoft.com/office/drawing/2014/main" id="{1A34BBCA-DC95-6CBD-A4EC-E25F25308F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53" t="11279" r="18993" b="11590"/>
          <a:stretch/>
        </p:blipFill>
        <p:spPr bwMode="auto">
          <a:xfrm>
            <a:off x="7269053" y="3065462"/>
            <a:ext cx="3274039" cy="2370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Amazon.com: Intel Core i7 i7-7700 Quad-core (4 Core) 3.60 GHz Processor -  Socket H4 LGA-1151 OEM Pack-Tray Packaging : Electronics">
            <a:extLst>
              <a:ext uri="{FF2B5EF4-FFF2-40B4-BE49-F238E27FC236}">
                <a16:creationId xmlns:a16="http://schemas.microsoft.com/office/drawing/2014/main" id="{3FF070AC-DBDD-A068-E8D8-6BE610715C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84" b="9659"/>
          <a:stretch/>
        </p:blipFill>
        <p:spPr bwMode="auto">
          <a:xfrm>
            <a:off x="2563923" y="3127375"/>
            <a:ext cx="2701767" cy="2246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679678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55574-3090-7487-B2BD-D542C5868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B91A57-38D6-D8E8-2FD3-B812D06042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5F2323-4902-61AC-C4C0-E1D49EAC51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84425" y="823913"/>
            <a:ext cx="6740525" cy="64611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First Random Search (10,000 Training Steps)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9E7B9DA-CEDC-6168-7B05-2A3FE944C1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335515"/>
              </p:ext>
            </p:extLst>
          </p:nvPr>
        </p:nvGraphicFramePr>
        <p:xfrm>
          <a:off x="2384425" y="2411413"/>
          <a:ext cx="5181599" cy="203644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23985">
                  <a:extLst>
                    <a:ext uri="{9D8B030D-6E8A-4147-A177-3AD203B41FA5}">
                      <a16:colId xmlns:a16="http://schemas.microsoft.com/office/drawing/2014/main" val="3705020549"/>
                    </a:ext>
                  </a:extLst>
                </a:gridCol>
                <a:gridCol w="598974">
                  <a:extLst>
                    <a:ext uri="{9D8B030D-6E8A-4147-A177-3AD203B41FA5}">
                      <a16:colId xmlns:a16="http://schemas.microsoft.com/office/drawing/2014/main" val="3435901933"/>
                    </a:ext>
                  </a:extLst>
                </a:gridCol>
                <a:gridCol w="598974">
                  <a:extLst>
                    <a:ext uri="{9D8B030D-6E8A-4147-A177-3AD203B41FA5}">
                      <a16:colId xmlns:a16="http://schemas.microsoft.com/office/drawing/2014/main" val="2101626296"/>
                    </a:ext>
                  </a:extLst>
                </a:gridCol>
                <a:gridCol w="659188">
                  <a:extLst>
                    <a:ext uri="{9D8B030D-6E8A-4147-A177-3AD203B41FA5}">
                      <a16:colId xmlns:a16="http://schemas.microsoft.com/office/drawing/2014/main" val="4246058286"/>
                    </a:ext>
                  </a:extLst>
                </a:gridCol>
                <a:gridCol w="988782">
                  <a:extLst>
                    <a:ext uri="{9D8B030D-6E8A-4147-A177-3AD203B41FA5}">
                      <a16:colId xmlns:a16="http://schemas.microsoft.com/office/drawing/2014/main" val="2552250187"/>
                    </a:ext>
                  </a:extLst>
                </a:gridCol>
                <a:gridCol w="836662">
                  <a:extLst>
                    <a:ext uri="{9D8B030D-6E8A-4147-A177-3AD203B41FA5}">
                      <a16:colId xmlns:a16="http://schemas.microsoft.com/office/drawing/2014/main" val="2861016015"/>
                    </a:ext>
                  </a:extLst>
                </a:gridCol>
                <a:gridCol w="675034">
                  <a:extLst>
                    <a:ext uri="{9D8B030D-6E8A-4147-A177-3AD203B41FA5}">
                      <a16:colId xmlns:a16="http://schemas.microsoft.com/office/drawing/2014/main" val="344985246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Weight Decay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Head Count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Block Count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Batch Size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Embedding Size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Learning Rate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Final Validation Loss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9020952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6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768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0.00010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3.69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412975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768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0.00010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3.77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322403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1024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0.00010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3.79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714458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768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0.00005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3.83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266476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0.00010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4.05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111417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768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0.00010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4.52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60395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768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0.00010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4.61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951191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768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0.00500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6.73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6025927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3CB24CD-C350-A451-C611-CCA2AEA49936}"/>
              </a:ext>
            </a:extLst>
          </p:cNvPr>
          <p:cNvSpPr txBox="1"/>
          <p:nvPr/>
        </p:nvSpPr>
        <p:spPr>
          <a:xfrm>
            <a:off x="8086725" y="2571661"/>
            <a:ext cx="6096000" cy="16737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u="sng" dirty="0">
                <a:solidFill>
                  <a:schemeClr val="tx1"/>
                </a:solidFill>
                <a:latin typeface="+mn-lt"/>
              </a:rPr>
              <a:t>Takeaways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+mn-lt"/>
              </a:rPr>
              <a:t>Bigger batch helps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+mn-lt"/>
              </a:rPr>
              <a:t>Embeddings should be at least 768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+mn-lt"/>
              </a:rPr>
              <a:t>Head count should be at least 12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+mn-lt"/>
              </a:rPr>
              <a:t>A smaller learning rate is better</a:t>
            </a:r>
          </a:p>
        </p:txBody>
      </p:sp>
    </p:spTree>
    <p:extLst>
      <p:ext uri="{BB962C8B-B14F-4D97-AF65-F5344CB8AC3E}">
        <p14:creationId xmlns:p14="http://schemas.microsoft.com/office/powerpoint/2010/main" val="166665609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02123-8B54-D4DC-68DA-D7D466B40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E3F975-7872-259A-14F3-31D589C1B2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1B03BA-9CDC-5D42-2C07-D8B9E58477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84425" y="823913"/>
            <a:ext cx="7769225" cy="64611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Second Random Search (100,000 Training Steps)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E3E1323-1763-8EBB-48CA-674E2CBC07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87294"/>
              </p:ext>
            </p:extLst>
          </p:nvPr>
        </p:nvGraphicFramePr>
        <p:xfrm>
          <a:off x="2463800" y="2952750"/>
          <a:ext cx="7264400" cy="9525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03300">
                  <a:extLst>
                    <a:ext uri="{9D8B030D-6E8A-4147-A177-3AD203B41FA5}">
                      <a16:colId xmlns:a16="http://schemas.microsoft.com/office/drawing/2014/main" val="1890056327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55405508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1902715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9511315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80900577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81633552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99782177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Weight Decay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Head Count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Block Count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Batch Size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Embedding Size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Learning Rate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Final Validation Loss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632344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0.1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32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768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0.00001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3.349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6089869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768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0.00001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3.352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853437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1024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0.00001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3.425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683783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768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0.00005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3.537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80880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575828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C68C8-904A-BCFF-82C2-5BB844CC0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92AF16-3855-3365-2C4B-6EEE4BD977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BC2AA2-052C-B05C-56F0-8FDB4DF28F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Final Run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AE3D77-C20A-2F7D-E453-EA6185695C0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I let the model train until validation loss stops improving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A58FF048-8C1E-3CD0-C913-3479856C8B36}"/>
              </a:ext>
            </a:extLst>
          </p:cNvPr>
          <p:cNvPicPr>
            <a:picLocks noGrp="1" noChangeAspect="1" noChangeArrowheads="1"/>
          </p:cNvPicPr>
          <p:nvPr>
            <p:ph type="chart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0484" y="2682875"/>
            <a:ext cx="5757957" cy="3189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7492104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EACCD-F9DD-69A7-8AEF-FF95C5ADA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5D8C3F-5E42-E8FD-6A2C-643D36CB49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D8751B85-FE3E-1EDD-36F7-32D120A03BC9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Fintel reports that on December 13, 2023, 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0907A1-DA8E-577C-E31B-048782CAFA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Generation Results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B4B1D3-E01D-05E3-8C9B-2DECDD58F1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Prompt</a:t>
            </a:r>
          </a:p>
        </p:txBody>
      </p:sp>
    </p:spTree>
    <p:extLst>
      <p:ext uri="{BB962C8B-B14F-4D97-AF65-F5344CB8AC3E}">
        <p14:creationId xmlns:p14="http://schemas.microsoft.com/office/powerpoint/2010/main" val="1115560769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55E8E-0890-51AB-346A-60410798F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267E42-38F5-9CCB-3222-A7920B44EE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D7C48C91-09F6-3650-8A17-0BF53F69BC2D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Fintel reports that on December 13, 2023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1" i="0" dirty="0">
                <a:solidFill>
                  <a:schemeClr val="accent4"/>
                </a:solidFill>
                <a:effectLst/>
                <a:latin typeface="Courier New" panose="02070309020205020404" pitchFamily="49" charset="0"/>
              </a:rPr>
              <a:t>000 shares of A shares, with an average price of $1.00 per share, which includes companies that are not the stock-to-based stock at a Zacks Rank #2 (Buy) stocks. The Zacks Consensus Estimate for the quarter is $1.00 to $3.00, with an average price of $2.30. The stock is expected to report its current price of $1.25 per share is scheduled to be a Zacks Rank #3 (Hold).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C1AD7F-AFD3-8A16-5EE1-2C9CC201F4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Generation Results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77EA65-3C1A-A767-997E-8AF1E764FD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After 10,000 training steps</a:t>
            </a:r>
          </a:p>
        </p:txBody>
      </p:sp>
    </p:spTree>
    <p:extLst>
      <p:ext uri="{BB962C8B-B14F-4D97-AF65-F5344CB8AC3E}">
        <p14:creationId xmlns:p14="http://schemas.microsoft.com/office/powerpoint/2010/main" val="86046934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2A3D7-E9CF-D931-ED8F-9D4F9A55F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712986-D480-A0DE-1931-D95778D1F2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27AB0B32-29B5-BC55-69F8-4A91989B3906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Fintel reports that on December 13, </a:t>
            </a:r>
            <a:r>
              <a:rPr lang="en-US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2023,</a:t>
            </a:r>
            <a:r>
              <a:rPr lang="en-US" b="1" i="0" dirty="0">
                <a:solidFill>
                  <a:schemeClr val="accent4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000</a:t>
            </a:r>
            <a:r>
              <a:rPr lang="en-US" b="1" i="0" dirty="0">
                <a:solidFill>
                  <a:schemeClr val="accent4"/>
                </a:solidFill>
                <a:effectLst/>
                <a:latin typeface="Courier New" panose="02070309020205020404" pitchFamily="49" charset="0"/>
              </a:rPr>
              <a:t> shares of A shares, with an average price of $1.00 per share, which includes companies that are not the stock-to-based stock at a Zacks Rank #2 (Buy) stocks. The Zacks Consensus Estimate for the quarter is $1.00 to $3.00, with an average price of $2.30. The stock is expected to report its current price of $1.25 per share is scheduled to be a Zacks Rank #3 (Hold).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F0C373-0EBE-5AD7-CB57-F16DFC7B18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Generation Results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E546-D635-1AD4-16C8-BAB0551AE3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After 10,000 training steps</a:t>
            </a:r>
          </a:p>
        </p:txBody>
      </p:sp>
    </p:spTree>
    <p:extLst>
      <p:ext uri="{BB962C8B-B14F-4D97-AF65-F5344CB8AC3E}">
        <p14:creationId xmlns:p14="http://schemas.microsoft.com/office/powerpoint/2010/main" val="1264923983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97602-197A-B5F0-3946-C613602C7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B0F57F-0164-EF52-0EE8-39297552A8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8A6820C7-D968-7BD1-80B4-A7B3475008A3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Fintel reports that on December 13, </a:t>
            </a:r>
            <a:r>
              <a:rPr lang="en-US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2023,</a:t>
            </a:r>
            <a:r>
              <a:rPr lang="en-US" b="1" i="0" dirty="0">
                <a:solidFill>
                  <a:schemeClr val="accent4"/>
                </a:solidFill>
                <a:effectLst/>
                <a:latin typeface="Courier New" panose="02070309020205020404" pitchFamily="49" charset="0"/>
              </a:rPr>
              <a:t>000 shares of A shares, with an average price of $1.00 per share, which includes companies that are not the stock-to-based </a:t>
            </a:r>
            <a:r>
              <a:rPr lang="en-US" b="1" i="0" dirty="0">
                <a:solidFill>
                  <a:schemeClr val="accent4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stock at a Zacks Rank #2 (Buy) stocks</a:t>
            </a:r>
            <a:r>
              <a:rPr lang="en-US" b="1" i="0" dirty="0">
                <a:solidFill>
                  <a:schemeClr val="accent4"/>
                </a:solidFill>
                <a:effectLst/>
                <a:latin typeface="Courier New" panose="02070309020205020404" pitchFamily="49" charset="0"/>
              </a:rPr>
              <a:t>. The Zacks Consensus Estimate for the quarter is $1.00 to $3.00, with an average price of $2.30. The stock is expected to report its current price of $1.25 per share is scheduled to be a Zacks Rank #3 (Hold).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187359-7096-72B1-77B5-9E871F3208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Generation Results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7AFA93-4030-C2AD-A403-648D83D0989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After 10,000 training steps</a:t>
            </a:r>
          </a:p>
        </p:txBody>
      </p:sp>
    </p:spTree>
    <p:extLst>
      <p:ext uri="{BB962C8B-B14F-4D97-AF65-F5344CB8AC3E}">
        <p14:creationId xmlns:p14="http://schemas.microsoft.com/office/powerpoint/2010/main" val="2285179976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30239-1EE1-F092-0E18-0927F9765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DDD197-9D38-B791-9928-4BAEE593A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F5F0D433-3B6E-BF9B-CF32-F0FE190AFF45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Fintel reports that on December 13, 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2023, </a:t>
            </a:r>
            <a:r>
              <a:rPr lang="en-US" b="1" i="0" dirty="0">
                <a:solidFill>
                  <a:schemeClr val="accent4"/>
                </a:solidFill>
                <a:effectLst/>
                <a:latin typeface="Courier New" panose="02070309020205020404" pitchFamily="49" charset="0"/>
              </a:rPr>
              <a:t>the company reported a quarterly net loss of $0.02 per share on $1.02 billion in revenue. This compares to the year-ago quarter when earnings came to $0.04 per share on $1.03 billion in revenue. </a:t>
            </a:r>
          </a:p>
          <a:p>
            <a:r>
              <a:rPr lang="en-US" b="1" i="0" dirty="0">
                <a:solidFill>
                  <a:schemeClr val="accent4"/>
                </a:solidFill>
                <a:effectLst/>
                <a:latin typeface="Courier New" panose="02070309020205020404" pitchFamily="49" charset="0"/>
              </a:rPr>
              <a:t>What to watch: Shares of Zoom Video Communications are still down about 30% from their all-time high reached on February 12.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D59941-6152-503D-D381-D3A3CA79A6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Generation Results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7DFEE6-4139-46F4-9651-440BB6E05E6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After 300,000 training steps</a:t>
            </a:r>
          </a:p>
        </p:txBody>
      </p:sp>
    </p:spTree>
    <p:extLst>
      <p:ext uri="{BB962C8B-B14F-4D97-AF65-F5344CB8AC3E}">
        <p14:creationId xmlns:p14="http://schemas.microsoft.com/office/powerpoint/2010/main" val="3039029622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CMU">
      <a:dk1>
        <a:srgbClr val="404040"/>
      </a:dk1>
      <a:lt1>
        <a:sysClr val="window" lastClr="FFFFFF"/>
      </a:lt1>
      <a:dk2>
        <a:srgbClr val="898989"/>
      </a:dk2>
      <a:lt2>
        <a:srgbClr val="BABABA"/>
      </a:lt2>
      <a:accent1>
        <a:srgbClr val="BB0000"/>
      </a:accent1>
      <a:accent2>
        <a:srgbClr val="404040"/>
      </a:accent2>
      <a:accent3>
        <a:srgbClr val="BABABA"/>
      </a:accent3>
      <a:accent4>
        <a:srgbClr val="00337F"/>
      </a:accent4>
      <a:accent5>
        <a:srgbClr val="AA6600"/>
      </a:accent5>
      <a:accent6>
        <a:srgbClr val="006677"/>
      </a:accent6>
      <a:hlink>
        <a:srgbClr val="00337F"/>
      </a:hlink>
      <a:folHlink>
        <a:srgbClr val="AA6600"/>
      </a:folHlink>
    </a:clrScheme>
    <a:fontScheme name="CMU-OpenSans">
      <a:majorFont>
        <a:latin typeface="Open Sans Extrabold"/>
        <a:ea typeface=""/>
        <a:cs typeface=""/>
      </a:majorFont>
      <a:minorFont>
        <a:latin typeface="Open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1" id="{B53CC54F-7090-1441-9D86-17D9076150A3}" vid="{14D2E271-62BE-C445-8763-5F56458296DE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Open Sans Regular"/>
        <a:ea typeface="Open Sans Regular"/>
        <a:cs typeface="Open Sans Regular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cmu-powerpoint-tartanwave</Template>
  <TotalTime>115</TotalTime>
  <Words>1207</Words>
  <Application>Microsoft Office PowerPoint</Application>
  <PresentationFormat>Widescreen</PresentationFormat>
  <Paragraphs>186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Aptos Narrow</vt:lpstr>
      <vt:lpstr>Arial</vt:lpstr>
      <vt:lpstr>Calibri</vt:lpstr>
      <vt:lpstr>Calibri Light</vt:lpstr>
      <vt:lpstr>Courier New</vt:lpstr>
      <vt:lpstr>Crimson Text</vt:lpstr>
      <vt:lpstr>Open Sans</vt:lpstr>
      <vt:lpstr>Open Sans Light</vt:lpstr>
      <vt:lpstr>Open Sans 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Hugo Latendresse</dc:creator>
  <cp:lastModifiedBy>Hugo Latendresse</cp:lastModifiedBy>
  <cp:revision>5</cp:revision>
  <cp:lastPrinted>2018-06-14T20:26:19Z</cp:lastPrinted>
  <dcterms:created xsi:type="dcterms:W3CDTF">2025-04-22T00:01:24Z</dcterms:created>
  <dcterms:modified xsi:type="dcterms:W3CDTF">2025-04-22T01:57:00Z</dcterms:modified>
</cp:coreProperties>
</file>